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1: Linear Gradients at Different Angles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gradFill>
            <a:gsLst>
              <a:gs pos="0">
                <a:srgbClr val="006BBD"/>
              </a:gs>
              <a:gs pos="100000">
                <a:srgbClr val="E83E3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0 degrees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914400"/>
            <a:ext cx="1828800" cy="2286000"/>
          </a:xfrm>
          <a:prstGeom prst="rect">
            <a:avLst/>
          </a:prstGeom>
          <a:gradFill>
            <a:gsLst>
              <a:gs pos="0">
                <a:srgbClr val="006BBD"/>
              </a:gs>
              <a:gs pos="100000">
                <a:srgbClr val="E83E3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45 degrees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1828800" cy="2286000"/>
          </a:xfrm>
          <a:prstGeom prst="rect">
            <a:avLst/>
          </a:prstGeom>
          <a:gradFill>
            <a:gsLst>
              <a:gs pos="0">
                <a:srgbClr val="006BBD"/>
              </a:gs>
              <a:gs pos="100000">
                <a:srgbClr val="E83E3E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90 degrees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914400"/>
            <a:ext cx="1828800" cy="2286000"/>
          </a:xfrm>
          <a:prstGeom prst="rect">
            <a:avLst/>
          </a:prstGeom>
          <a:gradFill>
            <a:gsLst>
              <a:gs pos="0">
                <a:srgbClr val="006BBD"/>
              </a:gs>
              <a:gs pos="100000">
                <a:srgbClr val="E83E3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135 degrees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1828800" cy="2286000"/>
          </a:xfrm>
          <a:prstGeom prst="rect">
            <a:avLst/>
          </a:prstGeom>
          <a:gradFill>
            <a:gsLst>
              <a:gs pos="0">
                <a:srgbClr val="006BBD"/>
              </a:gs>
              <a:gs pos="100000">
                <a:srgbClr val="E83E3E"/>
              </a:gs>
            </a:gsLst>
            <a:lin ang="10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180 degrees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8288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0° (3 stops)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657600"/>
            <a:ext cx="18288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45° (3 stops)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18288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90° (3 stops)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657600"/>
            <a:ext cx="18288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135° (3 stops)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657600"/>
            <a:ext cx="18288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10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180° (3 stops)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2: Radial Gradients (Different Centers)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3366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91440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3366"/>
              </a:gs>
            </a:gsLst>
            <a:path path="circle">
              <a:fillToRect l="0" t="0" r="0" b="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Top-Left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3366"/>
              </a:gs>
            </a:gsLst>
            <a:path path="circle">
              <a:fillToRect l="100000" t="0" r="100000" b="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Top-Right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91440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3366"/>
              </a:gs>
            </a:gsLst>
            <a:path path="circle">
              <a:fillToRect l="0" t="100000" r="0" b="10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Bottom-Left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3366"/>
              </a:gs>
            </a:gsLst>
            <a:path path="circle">
              <a:fillToRect l="100000" t="100000" r="100000" b="10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Bottom-Right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828800" cy="2286000"/>
          </a:xfrm>
          <a:prstGeom prst="rect">
            <a:avLst/>
          </a:prstGeom>
          <a:gradFill>
            <a:gsLst>
              <a:gs pos="0">
                <a:srgbClr val="FFD700"/>
              </a:gs>
              <a:gs pos="100000">
                <a:srgbClr val="FF4500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Gold-&gt;Red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40480"/>
            <a:ext cx="1828800" cy="2286000"/>
          </a:xfrm>
          <a:prstGeom prst="rect">
            <a:avLst/>
          </a:prstGeom>
          <a:gradFill>
            <a:gsLst>
              <a:gs pos="0">
                <a:srgbClr val="00FF00"/>
              </a:gs>
              <a:gs pos="100000">
                <a:srgbClr val="006400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Lime-&gt;Dark 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840480"/>
            <a:ext cx="1828800" cy="22860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87CEEB"/>
              </a:gs>
              <a:gs pos="100000">
                <a:srgbClr val="00008B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White-&gt;Sky-&gt;Navy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840480"/>
            <a:ext cx="1828800" cy="2286000"/>
          </a:xfrm>
          <a:prstGeom prst="rect">
            <a:avLst/>
          </a:prstGeom>
          <a:gradFill>
            <a:gsLst>
              <a:gs pos="0">
                <a:srgbClr val="FFC0CB"/>
              </a:gs>
              <a:gs pos="100000">
                <a:srgbClr val="800080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Pink-&gt;Purple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840480"/>
            <a:ext cx="1828800" cy="22860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FF69B4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Yellow-&gt;Hot Pink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3: Multi-Stop Gradients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560320" cy="1828800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F000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2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FF0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3 stops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91440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FF00"/>
              </a:gs>
              <a:gs pos="100000">
                <a:srgbClr val="0000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4 stops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91440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25000">
                <a:srgbClr val="FFA500"/>
              </a:gs>
              <a:gs pos="50000">
                <a:srgbClr val="FFFF00"/>
              </a:gs>
              <a:gs pos="75000">
                <a:srgbClr val="00FF00"/>
              </a:gs>
              <a:gs pos="100000">
                <a:srgbClr val="0000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5 stops (rainbow)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2560320" cy="1828800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F000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2 stops (vertical)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47472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FF0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3 stops (vertical)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47472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FF00"/>
              </a:gs>
              <a:gs pos="100000">
                <a:srgbClr val="0000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4 stops (vertical)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474720"/>
            <a:ext cx="2560320" cy="1828800"/>
          </a:xfrm>
          <a:prstGeom prst="rect">
            <a:avLst/>
          </a:prstGeom>
          <a:gradFill>
            <a:gsLst>
              <a:gs pos="0">
                <a:srgbClr val="FF0000"/>
              </a:gs>
              <a:gs pos="25000">
                <a:srgbClr val="FFA500"/>
              </a:gs>
              <a:gs pos="50000">
                <a:srgbClr val="FFFF00"/>
              </a:gs>
              <a:gs pos="75000">
                <a:srgbClr val="00FF00"/>
              </a:gs>
              <a:gs pos="100000">
                <a:srgbClr val="0000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5 stops (rainbow) (vertical)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4: Gradients on Different Shape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200400" cy="2286000"/>
          </a:xfrm>
          <a:prstGeom prst="rect">
            <a:avLst/>
          </a:prstGeom>
          <a:gradFill>
            <a:gsLst>
              <a:gs pos="0">
                <a:srgbClr val="6600CC"/>
              </a:gs>
              <a:gs pos="50000">
                <a:srgbClr val="CC0099"/>
              </a:gs>
              <a:gs pos="100000">
                <a:srgbClr val="FF66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Rectangle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914400"/>
            <a:ext cx="3200400" cy="2286000"/>
          </a:xfrm>
          <a:prstGeom prst="ellipse">
            <a:avLst/>
          </a:prstGeom>
          <a:gradFill>
            <a:gsLst>
              <a:gs pos="0">
                <a:srgbClr val="6600CC"/>
              </a:gs>
              <a:gs pos="50000">
                <a:srgbClr val="CC0099"/>
              </a:gs>
              <a:gs pos="100000">
                <a:srgbClr val="FF66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Ellipse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914400"/>
            <a:ext cx="3200400" cy="2286000"/>
          </a:xfrm>
          <a:prstGeom prst="roundRect">
            <a:avLst/>
          </a:prstGeom>
          <a:gradFill>
            <a:gsLst>
              <a:gs pos="0">
                <a:srgbClr val="6600CC"/>
              </a:gs>
              <a:gs pos="50000">
                <a:srgbClr val="CC0099"/>
              </a:gs>
              <a:gs pos="100000">
                <a:srgbClr val="FF66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Rounded Rectangle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57200" y="3840480"/>
            <a:ext cx="3200400" cy="2286000"/>
          </a:xfrm>
          <a:prstGeom prst="triangle">
            <a:avLst/>
          </a:prstGeom>
          <a:gradFill>
            <a:gsLst>
              <a:gs pos="0">
                <a:srgbClr val="00BFFF"/>
              </a:gs>
              <a:gs pos="100000">
                <a:srgbClr val="00008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Triangle</a:t>
            </a:r>
          </a:p>
        </p:txBody>
      </p:sp>
      <p:sp>
        <p:nvSpPr>
          <p:cNvPr id="11" name="Diamond 10"/>
          <p:cNvSpPr/>
          <p:nvPr/>
        </p:nvSpPr>
        <p:spPr>
          <a:xfrm>
            <a:off x="4114800" y="3840480"/>
            <a:ext cx="3200400" cy="2286000"/>
          </a:xfrm>
          <a:prstGeom prst="diamond">
            <a:avLst/>
          </a:prstGeom>
          <a:gradFill>
            <a:gsLst>
              <a:gs pos="0">
                <a:srgbClr val="00BFFF"/>
              </a:gs>
              <a:gs pos="100000">
                <a:srgbClr val="000080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Diamond (radial)</a:t>
            </a:r>
          </a:p>
        </p:txBody>
      </p:sp>
      <p:sp>
        <p:nvSpPr>
          <p:cNvPr id="13" name="Down Arrow Callout 12"/>
          <p:cNvSpPr/>
          <p:nvPr/>
        </p:nvSpPr>
        <p:spPr>
          <a:xfrm>
            <a:off x="7772400" y="3840480"/>
            <a:ext cx="3200400" cy="2286000"/>
          </a:xfrm>
          <a:prstGeom prst="downArrowCallout">
            <a:avLst/>
          </a:prstGeom>
          <a:gradFill>
            <a:gsLst>
              <a:gs pos="0">
                <a:srgbClr val="6600CC"/>
              </a:gs>
              <a:gs pos="50000">
                <a:srgbClr val="CC0099"/>
              </a:gs>
              <a:gs pos="100000">
                <a:srgbClr val="FF6600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Pentagon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5: Gradient Stroke / Line Fills</a:t>
            </a:r>
          </a:p>
        </p:txBody>
      </p:sp>
      <p:sp>
        <p:nvSpPr>
          <p:cNvPr id="3" name="Rectangle 2"/>
          <p:cNvSpPr/>
          <p:nvPr/>
        </p:nvSpPr>
        <p:spPr>
          <a:noFill/>
          <a:xfrm>
            <a:off x="457200" y="914400"/>
            <a:ext cx="3200400" cy="1828800"/>
          </a:xfrm>
          <a:prstGeom prst="rect">
            <a:avLst/>
          </a:prstGeom>
          <a:ln w="25400">
            <a:gradFill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Thin gradient line (2pt)</a:t>
            </a:r>
          </a:p>
        </p:txBody>
      </p:sp>
      <p:sp>
        <p:nvSpPr>
          <p:cNvPr id="5" name="Rectangle 4"/>
          <p:cNvSpPr/>
          <p:nvPr/>
        </p:nvSpPr>
        <p:spPr>
          <a:noFill/>
          <a:xfrm>
            <a:off x="4297680" y="914400"/>
            <a:ext cx="3200400" cy="1828800"/>
          </a:xfrm>
          <a:prstGeom prst="rect">
            <a:avLst/>
          </a:prstGeom>
          <a:ln w="50800">
            <a:gradFill>
              <a:gsLst>
                <a:gs pos="0">
                  <a:srgbClr val="00FF00"/>
                </a:gs>
                <a:gs pos="50000">
                  <a:srgbClr val="FFFF00"/>
                </a:gs>
                <a:gs pos="100000">
                  <a:srgbClr val="FF0000"/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Medium gradient line (4pt)</a:t>
            </a:r>
          </a:p>
        </p:txBody>
      </p:sp>
      <p:sp>
        <p:nvSpPr>
          <p:cNvPr id="7" name="Rectangle 6"/>
          <p:cNvSpPr/>
          <p:nvPr/>
        </p:nvSpPr>
        <p:spPr>
          <a:noFill/>
          <a:xfrm>
            <a:off x="8138160" y="914400"/>
            <a:ext cx="3200400" cy="1828800"/>
          </a:xfrm>
          <a:prstGeom prst="rect">
            <a:avLst/>
          </a:prstGeom>
          <a:ln w="101600">
            <a:gradFill>
              <a:gsLst>
                <a:gs pos="0">
                  <a:srgbClr val="FF69B4"/>
                </a:gs>
                <a:gs pos="100000">
                  <a:srgbClr val="80008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Thick gradient line (8pt)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029200" cy="2286000"/>
          </a:xfrm>
          <a:prstGeom prst="roundRect">
            <a:avLst/>
          </a:prstGeom>
          <a:gradFill>
            <a:gsLst>
              <a:gs pos="0">
                <a:srgbClr val="ADD8E6"/>
              </a:gs>
              <a:gs pos="100000">
                <a:srgbClr val="00008B"/>
              </a:gs>
            </a:gsLst>
            <a:lin ang="2700000" scaled="1"/>
          </a:gradFill>
          <a:ln w="38100">
            <a:gradFill>
              <a:gsLst>
                <a:gs pos="0">
                  <a:srgbClr val="FFD700"/>
                </a:gs>
                <a:gs pos="100000">
                  <a:srgbClr val="FF0000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Fill + line 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657600"/>
            <a:ext cx="5029200" cy="2286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8B008B"/>
              </a:gs>
            </a:gsLst>
            <a:path path="circle">
              <a:fillToRect l="50000" t="50000" r="50000" b="50000"/>
            </a:path>
          </a:gradFill>
          <a:ln w="38100">
            <a:gradFill>
              <a:gsLst>
                <a:gs pos="0">
                  <a:srgbClr val="00FF00"/>
                </a:gs>
                <a:gs pos="100000">
                  <a:srgbClr val="000080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Radial fill + line 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