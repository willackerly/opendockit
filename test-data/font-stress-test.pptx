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1A1A2E"/>
                </a:solidFill>
                <a:latin typeface="Calibri"/>
              </a:rPr>
              <a:t>OpenDocKit Font Stress Test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>
                <a:solidFill>
                  <a:srgbClr val="666666"/>
                </a:solidFill>
                <a:latin typeface="Calibri"/>
              </a:rPr>
              <a:t>42 bundled font families • 130 faces • 5.0 MB WOFF2 • 100% offline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33399"/>
                </a:solidFill>
                <a:latin typeface="Calibri"/>
              </a:rPr>
              <a:t>Office Core Font Substitutes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548640"/>
            <a:ext cx="8595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solidFill>
                  <a:srgbClr val="999999"/>
                </a:solidFill>
                <a:latin typeface="Calibri"/>
              </a:rPr>
              <a:t>Calibri (Carlito substitute): </a:t>
            </a:r>
            <a:r>
              <a:rPr sz="1400">
                <a:solidFill>
                  <a:srgbClr val="1A1A1A"/>
                </a:solidFill>
                <a:latin typeface="Calibri"/>
              </a:rPr>
              <a:t>AaBbCcDdEeFfGg 0123456789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932688"/>
            <a:ext cx="8595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333333"/>
                </a:solidFill>
                <a:latin typeface="Calibri"/>
              </a:rPr>
              <a:t>Bold </a:t>
            </a:r>
            <a:r>
              <a:rPr sz="1200" i="1">
                <a:solidFill>
                  <a:srgbClr val="333333"/>
                </a:solidFill>
                <a:latin typeface="Calibri"/>
              </a:rPr>
              <a:t>Italic </a:t>
            </a:r>
            <a:r>
              <a:rPr sz="1200" b="1" i="1">
                <a:solidFill>
                  <a:srgbClr val="333333"/>
                </a:solidFill>
                <a:latin typeface="Calibri"/>
              </a:rPr>
              <a:t>Bold Italic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389888"/>
            <a:ext cx="8595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solidFill>
                  <a:srgbClr val="999999"/>
                </a:solidFill>
                <a:latin typeface="Calibri"/>
              </a:rPr>
              <a:t>Calibri Light (Carlito Light substitute): </a:t>
            </a:r>
            <a:r>
              <a:rPr sz="1400">
                <a:solidFill>
                  <a:srgbClr val="1A1A1A"/>
                </a:solidFill>
                <a:latin typeface="Calibri Light"/>
              </a:rPr>
              <a:t>AaBbCcDdEeFfGg 0123456789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773936"/>
            <a:ext cx="8595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333333"/>
                </a:solidFill>
                <a:latin typeface="Calibri Light"/>
              </a:rPr>
              <a:t>Bold </a:t>
            </a:r>
            <a:r>
              <a:rPr sz="1200" i="1">
                <a:solidFill>
                  <a:srgbClr val="333333"/>
                </a:solidFill>
                <a:latin typeface="Calibri Light"/>
              </a:rPr>
              <a:t>Italic </a:t>
            </a:r>
            <a:r>
              <a:rPr sz="1200" b="1" i="1">
                <a:solidFill>
                  <a:srgbClr val="333333"/>
                </a:solidFill>
                <a:latin typeface="Calibri Light"/>
              </a:rPr>
              <a:t>Bold Italic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2231136"/>
            <a:ext cx="8595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solidFill>
                  <a:srgbClr val="999999"/>
                </a:solidFill>
                <a:latin typeface="Calibri"/>
              </a:rPr>
              <a:t>Cambria (Caladea substitute): </a:t>
            </a:r>
            <a:r>
              <a:rPr sz="1400">
                <a:solidFill>
                  <a:srgbClr val="1A1A1A"/>
                </a:solidFill>
                <a:latin typeface="Cambria"/>
              </a:rPr>
              <a:t>AaBbCcDdEeFfGg 0123456789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2615184"/>
            <a:ext cx="8595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333333"/>
                </a:solidFill>
                <a:latin typeface="Cambria"/>
              </a:rPr>
              <a:t>Bold </a:t>
            </a:r>
            <a:r>
              <a:rPr sz="1200" i="1">
                <a:solidFill>
                  <a:srgbClr val="333333"/>
                </a:solidFill>
                <a:latin typeface="Cambria"/>
              </a:rPr>
              <a:t>Italic </a:t>
            </a:r>
            <a:r>
              <a:rPr sz="1200" b="1" i="1">
                <a:solidFill>
                  <a:srgbClr val="333333"/>
                </a:solidFill>
                <a:latin typeface="Cambria"/>
              </a:rPr>
              <a:t>Bold Italic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3072384"/>
            <a:ext cx="8595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solidFill>
                  <a:srgbClr val="999999"/>
                </a:solidFill>
                <a:latin typeface="Calibri"/>
              </a:rPr>
              <a:t>Arial (Liberation Sans substitute): </a:t>
            </a:r>
            <a:r>
              <a:rPr sz="1400">
                <a:solidFill>
                  <a:srgbClr val="1A1A1A"/>
                </a:solidFill>
                <a:latin typeface="Arial"/>
              </a:rPr>
              <a:t>AaBbCcDdEeFfGg 0123456789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3456432"/>
            <a:ext cx="8595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333333"/>
                </a:solidFill>
                <a:latin typeface="Arial"/>
              </a:rPr>
              <a:t>Bold </a:t>
            </a:r>
            <a:r>
              <a:rPr sz="1200" i="1">
                <a:solidFill>
                  <a:srgbClr val="333333"/>
                </a:solidFill>
                <a:latin typeface="Arial"/>
              </a:rPr>
              <a:t>Italic </a:t>
            </a:r>
            <a:r>
              <a:rPr sz="1200" b="1" i="1">
                <a:solidFill>
                  <a:srgbClr val="333333"/>
                </a:solidFill>
                <a:latin typeface="Arial"/>
              </a:rPr>
              <a:t>Bold Italic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3913631"/>
            <a:ext cx="8595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solidFill>
                  <a:srgbClr val="999999"/>
                </a:solidFill>
                <a:latin typeface="Calibri"/>
              </a:rPr>
              <a:t>Arial Narrow (Liberation Sans Narrow substitute): </a:t>
            </a:r>
            <a:r>
              <a:rPr sz="1400">
                <a:solidFill>
                  <a:srgbClr val="1A1A1A"/>
                </a:solidFill>
                <a:latin typeface="Arial Narrow"/>
              </a:rPr>
              <a:t>AaBbCcDdEeFfGg 0123456789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" y="4297679"/>
            <a:ext cx="8595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333333"/>
                </a:solidFill>
                <a:latin typeface="Arial Narrow"/>
              </a:rPr>
              <a:t>Bold </a:t>
            </a:r>
            <a:r>
              <a:rPr sz="1200" i="1">
                <a:solidFill>
                  <a:srgbClr val="333333"/>
                </a:solidFill>
                <a:latin typeface="Arial Narrow"/>
              </a:rPr>
              <a:t>Italic </a:t>
            </a:r>
            <a:r>
              <a:rPr sz="1200" b="1" i="1">
                <a:solidFill>
                  <a:srgbClr val="333333"/>
                </a:solidFill>
                <a:latin typeface="Arial Narrow"/>
              </a:rPr>
              <a:t>Bold Italic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4754879"/>
            <a:ext cx="8595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solidFill>
                  <a:srgbClr val="999999"/>
                </a:solidFill>
                <a:latin typeface="Calibri"/>
              </a:rPr>
              <a:t>Times New Roman (Liberation Serif substitute): </a:t>
            </a:r>
            <a:r>
              <a:rPr sz="1400">
                <a:solidFill>
                  <a:srgbClr val="1A1A1A"/>
                </a:solidFill>
                <a:latin typeface="Times New Roman"/>
              </a:rPr>
              <a:t>AaBbCcDdEeFfGg 0123456789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" y="5138927"/>
            <a:ext cx="8595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333333"/>
                </a:solidFill>
                <a:latin typeface="Times New Roman"/>
              </a:rPr>
              <a:t>Bold </a:t>
            </a:r>
            <a:r>
              <a:rPr sz="1200" i="1">
                <a:solidFill>
                  <a:srgbClr val="333333"/>
                </a:solidFill>
                <a:latin typeface="Times New Roman"/>
              </a:rPr>
              <a:t>Italic </a:t>
            </a:r>
            <a:r>
              <a:rPr sz="1200" b="1" i="1">
                <a:solidFill>
                  <a:srgbClr val="333333"/>
                </a:solidFill>
                <a:latin typeface="Times New Roman"/>
              </a:rPr>
              <a:t>Bold Italic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" y="5596127"/>
            <a:ext cx="8595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solidFill>
                  <a:srgbClr val="999999"/>
                </a:solidFill>
                <a:latin typeface="Calibri"/>
              </a:rPr>
              <a:t>Courier New (Liberation Mono substitute): </a:t>
            </a:r>
            <a:r>
              <a:rPr sz="1400">
                <a:solidFill>
                  <a:srgbClr val="1A1A1A"/>
                </a:solidFill>
                <a:latin typeface="Courier New"/>
              </a:rPr>
              <a:t>AaBbCcDdEeFfGg 0123456789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" y="5980175"/>
            <a:ext cx="8595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333333"/>
                </a:solidFill>
                <a:latin typeface="Courier New"/>
              </a:rPr>
              <a:t>Bold </a:t>
            </a:r>
            <a:r>
              <a:rPr sz="1200" i="1">
                <a:solidFill>
                  <a:srgbClr val="333333"/>
                </a:solidFill>
                <a:latin typeface="Courier New"/>
              </a:rPr>
              <a:t>Italic </a:t>
            </a:r>
            <a:r>
              <a:rPr sz="1200" b="1" i="1">
                <a:solidFill>
                  <a:srgbClr val="333333"/>
                </a:solidFill>
                <a:latin typeface="Courier New"/>
              </a:rPr>
              <a:t>Bold Italic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33399"/>
                </a:solidFill>
                <a:latin typeface="Calibri"/>
              </a:rPr>
              <a:t>Office Core Font Substitutes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548640"/>
            <a:ext cx="8595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solidFill>
                  <a:srgbClr val="999999"/>
                </a:solidFill>
                <a:latin typeface="Calibri"/>
              </a:rPr>
              <a:t>Segoe UI Light (Selawik Light substitute): </a:t>
            </a:r>
            <a:r>
              <a:rPr sz="1400">
                <a:solidFill>
                  <a:srgbClr val="1A1A1A"/>
                </a:solidFill>
                <a:latin typeface="Segoe UI Light"/>
              </a:rPr>
              <a:t>AaBbCcDdEeFfGg 0123456789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932688"/>
            <a:ext cx="8595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333333"/>
                </a:solidFill>
                <a:latin typeface="Segoe UI Light"/>
              </a:rPr>
              <a:t>Bold </a:t>
            </a:r>
            <a:r>
              <a:rPr sz="1200" i="1">
                <a:solidFill>
                  <a:srgbClr val="333333"/>
                </a:solidFill>
                <a:latin typeface="Segoe UI Light"/>
              </a:rPr>
              <a:t>Italic </a:t>
            </a:r>
            <a:r>
              <a:rPr sz="1200" b="1" i="1">
                <a:solidFill>
                  <a:srgbClr val="333333"/>
                </a:solidFill>
                <a:latin typeface="Segoe UI Light"/>
              </a:rPr>
              <a:t>Bold Italic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389888"/>
            <a:ext cx="8595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solidFill>
                  <a:srgbClr val="999999"/>
                </a:solidFill>
                <a:latin typeface="Calibri"/>
              </a:rPr>
              <a:t>Segoe UI Semibold (Selawik Semibold substitute): </a:t>
            </a:r>
            <a:r>
              <a:rPr sz="1400">
                <a:solidFill>
                  <a:srgbClr val="1A1A1A"/>
                </a:solidFill>
                <a:latin typeface="Segoe UI Semibold"/>
              </a:rPr>
              <a:t>AaBbCcDdEeFfGg 0123456789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773936"/>
            <a:ext cx="8595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333333"/>
                </a:solidFill>
                <a:latin typeface="Segoe UI Semibold"/>
              </a:rPr>
              <a:t>Bold </a:t>
            </a:r>
            <a:r>
              <a:rPr sz="1200" i="1">
                <a:solidFill>
                  <a:srgbClr val="333333"/>
                </a:solidFill>
                <a:latin typeface="Segoe UI Semibold"/>
              </a:rPr>
              <a:t>Italic </a:t>
            </a:r>
            <a:r>
              <a:rPr sz="1200" b="1" i="1">
                <a:solidFill>
                  <a:srgbClr val="333333"/>
                </a:solidFill>
                <a:latin typeface="Segoe UI Semibold"/>
              </a:rPr>
              <a:t>Bold Italic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2231136"/>
            <a:ext cx="8595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solidFill>
                  <a:srgbClr val="999999"/>
                </a:solidFill>
                <a:latin typeface="Calibri"/>
              </a:rPr>
              <a:t>Segoe UI Semilight (Selawik Semilight substitute): </a:t>
            </a:r>
            <a:r>
              <a:rPr sz="1400">
                <a:solidFill>
                  <a:srgbClr val="1A1A1A"/>
                </a:solidFill>
                <a:latin typeface="Segoe UI Semilight"/>
              </a:rPr>
              <a:t>AaBbCcDdEeFfGg 0123456789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2615184"/>
            <a:ext cx="8595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333333"/>
                </a:solidFill>
                <a:latin typeface="Segoe UI Semilight"/>
              </a:rPr>
              <a:t>Bold </a:t>
            </a:r>
            <a:r>
              <a:rPr sz="1200" i="1">
                <a:solidFill>
                  <a:srgbClr val="333333"/>
                </a:solidFill>
                <a:latin typeface="Segoe UI Semilight"/>
              </a:rPr>
              <a:t>Italic </a:t>
            </a:r>
            <a:r>
              <a:rPr sz="1200" b="1" i="1">
                <a:solidFill>
                  <a:srgbClr val="333333"/>
                </a:solidFill>
                <a:latin typeface="Segoe UI Semilight"/>
              </a:rPr>
              <a:t>Bold Italic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3072384"/>
            <a:ext cx="8595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solidFill>
                  <a:srgbClr val="999999"/>
                </a:solidFill>
                <a:latin typeface="Calibri"/>
              </a:rPr>
              <a:t>Georgia (Gelasio substitute): </a:t>
            </a:r>
            <a:r>
              <a:rPr sz="1400">
                <a:solidFill>
                  <a:srgbClr val="1A1A1A"/>
                </a:solidFill>
                <a:latin typeface="Georgia"/>
              </a:rPr>
              <a:t>AaBbCcDdEeFfGg 0123456789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3456432"/>
            <a:ext cx="8595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333333"/>
                </a:solidFill>
                <a:latin typeface="Georgia"/>
              </a:rPr>
              <a:t>Bold </a:t>
            </a:r>
            <a:r>
              <a:rPr sz="1200" i="1">
                <a:solidFill>
                  <a:srgbClr val="333333"/>
                </a:solidFill>
                <a:latin typeface="Georgia"/>
              </a:rPr>
              <a:t>Italic </a:t>
            </a:r>
            <a:r>
              <a:rPr sz="1200" b="1" i="1">
                <a:solidFill>
                  <a:srgbClr val="333333"/>
                </a:solidFill>
                <a:latin typeface="Georgia"/>
              </a:rPr>
              <a:t>Bold Italic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3913631"/>
            <a:ext cx="8595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solidFill>
                  <a:srgbClr val="999999"/>
                </a:solidFill>
                <a:latin typeface="Calibri"/>
              </a:rPr>
              <a:t>Palatino Linotype (TeX Gyre Pagella substitute): </a:t>
            </a:r>
            <a:r>
              <a:rPr sz="1400">
                <a:solidFill>
                  <a:srgbClr val="1A1A1A"/>
                </a:solidFill>
                <a:latin typeface="Palatino Linotype"/>
              </a:rPr>
              <a:t>AaBbCcDdEeFfGg 0123456789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" y="4297679"/>
            <a:ext cx="8595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333333"/>
                </a:solidFill>
                <a:latin typeface="Palatino Linotype"/>
              </a:rPr>
              <a:t>Bold </a:t>
            </a:r>
            <a:r>
              <a:rPr sz="1200" i="1">
                <a:solidFill>
                  <a:srgbClr val="333333"/>
                </a:solidFill>
                <a:latin typeface="Palatino Linotype"/>
              </a:rPr>
              <a:t>Italic </a:t>
            </a:r>
            <a:r>
              <a:rPr sz="1200" b="1" i="1">
                <a:solidFill>
                  <a:srgbClr val="333333"/>
                </a:solidFill>
                <a:latin typeface="Palatino Linotype"/>
              </a:rPr>
              <a:t>Bold Italic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4754879"/>
            <a:ext cx="8595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solidFill>
                  <a:srgbClr val="999999"/>
                </a:solidFill>
                <a:latin typeface="Calibri"/>
              </a:rPr>
              <a:t>Bookman Old Style (TeX Gyre Bonum substitute): </a:t>
            </a:r>
            <a:r>
              <a:rPr sz="1400">
                <a:solidFill>
                  <a:srgbClr val="1A1A1A"/>
                </a:solidFill>
                <a:latin typeface="Bookman Old Style"/>
              </a:rPr>
              <a:t>AaBbCcDdEeFfGg 0123456789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" y="5138927"/>
            <a:ext cx="8595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333333"/>
                </a:solidFill>
                <a:latin typeface="Bookman Old Style"/>
              </a:rPr>
              <a:t>Bold </a:t>
            </a:r>
            <a:r>
              <a:rPr sz="1200" i="1">
                <a:solidFill>
                  <a:srgbClr val="333333"/>
                </a:solidFill>
                <a:latin typeface="Bookman Old Style"/>
              </a:rPr>
              <a:t>Italic </a:t>
            </a:r>
            <a:r>
              <a:rPr sz="1200" b="1" i="1">
                <a:solidFill>
                  <a:srgbClr val="333333"/>
                </a:solidFill>
                <a:latin typeface="Bookman Old Style"/>
              </a:rPr>
              <a:t>Bold Italic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" y="5596127"/>
            <a:ext cx="8595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solidFill>
                  <a:srgbClr val="999999"/>
                </a:solidFill>
                <a:latin typeface="Calibri"/>
              </a:rPr>
              <a:t>Century Schoolbook (TeX Gyre Schola substitute): </a:t>
            </a:r>
            <a:r>
              <a:rPr sz="1400">
                <a:solidFill>
                  <a:srgbClr val="1A1A1A"/>
                </a:solidFill>
                <a:latin typeface="Century Schoolbook"/>
              </a:rPr>
              <a:t>AaBbCcDdEeFfGg 0123456789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" y="5980175"/>
            <a:ext cx="8595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333333"/>
                </a:solidFill>
                <a:latin typeface="Century Schoolbook"/>
              </a:rPr>
              <a:t>Bold </a:t>
            </a:r>
            <a:r>
              <a:rPr sz="1200" i="1">
                <a:solidFill>
                  <a:srgbClr val="333333"/>
                </a:solidFill>
                <a:latin typeface="Century Schoolbook"/>
              </a:rPr>
              <a:t>Italic </a:t>
            </a:r>
            <a:r>
              <a:rPr sz="1200" b="1" i="1">
                <a:solidFill>
                  <a:srgbClr val="333333"/>
                </a:solidFill>
                <a:latin typeface="Century Schoolbook"/>
              </a:rPr>
              <a:t>Bold Italic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33399"/>
                </a:solidFill>
                <a:latin typeface="Calibri"/>
              </a:rPr>
              <a:t>Google Fonts — Sans-Serif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548640"/>
            <a:ext cx="8595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solidFill>
                  <a:srgbClr val="999999"/>
                </a:solidFill>
                <a:latin typeface="Calibri"/>
              </a:rPr>
              <a:t>Arimo (sans-serif): </a:t>
            </a:r>
            <a:r>
              <a:rPr sz="1400">
                <a:solidFill>
                  <a:srgbClr val="1A1A1A"/>
                </a:solidFill>
                <a:latin typeface="Arimo"/>
              </a:rPr>
              <a:t>AaBbCcDdEeFfGg 0123456789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932688"/>
            <a:ext cx="8595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333333"/>
                </a:solidFill>
                <a:latin typeface="Arimo"/>
              </a:rPr>
              <a:t>Bold </a:t>
            </a:r>
            <a:r>
              <a:rPr sz="1200" i="1">
                <a:solidFill>
                  <a:srgbClr val="333333"/>
                </a:solidFill>
                <a:latin typeface="Arimo"/>
              </a:rPr>
              <a:t>Italic </a:t>
            </a:r>
            <a:r>
              <a:rPr sz="1200" b="1" i="1">
                <a:solidFill>
                  <a:srgbClr val="333333"/>
                </a:solidFill>
                <a:latin typeface="Arimo"/>
              </a:rPr>
              <a:t>Bold Italic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389888"/>
            <a:ext cx="8595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solidFill>
                  <a:srgbClr val="999999"/>
                </a:solidFill>
                <a:latin typeface="Calibri"/>
              </a:rPr>
              <a:t>Barlow (sans-serif): </a:t>
            </a:r>
            <a:r>
              <a:rPr sz="1400">
                <a:solidFill>
                  <a:srgbClr val="1A1A1A"/>
                </a:solidFill>
                <a:latin typeface="Barlow"/>
              </a:rPr>
              <a:t>AaBbCcDdEeFfGg 0123456789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773936"/>
            <a:ext cx="8595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333333"/>
                </a:solidFill>
                <a:latin typeface="Barlow"/>
              </a:rPr>
              <a:t>Bold </a:t>
            </a:r>
            <a:r>
              <a:rPr sz="1200" i="1">
                <a:solidFill>
                  <a:srgbClr val="333333"/>
                </a:solidFill>
                <a:latin typeface="Barlow"/>
              </a:rPr>
              <a:t>Italic </a:t>
            </a:r>
            <a:r>
              <a:rPr sz="1200" b="1" i="1">
                <a:solidFill>
                  <a:srgbClr val="333333"/>
                </a:solidFill>
                <a:latin typeface="Barlow"/>
              </a:rPr>
              <a:t>Bold Italic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2231136"/>
            <a:ext cx="8595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solidFill>
                  <a:srgbClr val="999999"/>
                </a:solidFill>
                <a:latin typeface="Calibri"/>
              </a:rPr>
              <a:t>Barlow Light (sans-serif, light weight): </a:t>
            </a:r>
            <a:r>
              <a:rPr sz="1400">
                <a:solidFill>
                  <a:srgbClr val="1A1A1A"/>
                </a:solidFill>
                <a:latin typeface="Barlow Light"/>
              </a:rPr>
              <a:t>AaBbCcDdEeFfGg 0123456789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2615184"/>
            <a:ext cx="8595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333333"/>
                </a:solidFill>
                <a:latin typeface="Barlow Light"/>
              </a:rPr>
              <a:t>Bold </a:t>
            </a:r>
            <a:r>
              <a:rPr sz="1200" i="1">
                <a:solidFill>
                  <a:srgbClr val="333333"/>
                </a:solidFill>
                <a:latin typeface="Barlow Light"/>
              </a:rPr>
              <a:t>Italic </a:t>
            </a:r>
            <a:r>
              <a:rPr sz="1200" b="1" i="1">
                <a:solidFill>
                  <a:srgbClr val="333333"/>
                </a:solidFill>
                <a:latin typeface="Barlow Light"/>
              </a:rPr>
              <a:t>Bold Italic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3072384"/>
            <a:ext cx="8595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solidFill>
                  <a:srgbClr val="999999"/>
                </a:solidFill>
                <a:latin typeface="Calibri"/>
              </a:rPr>
              <a:t>Comfortaa (rounded sans-serif): </a:t>
            </a:r>
            <a:r>
              <a:rPr sz="1400">
                <a:solidFill>
                  <a:srgbClr val="1A1A1A"/>
                </a:solidFill>
                <a:latin typeface="Comfortaa"/>
              </a:rPr>
              <a:t>AaBbCcDdEeFfGg 0123456789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3456432"/>
            <a:ext cx="8595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333333"/>
                </a:solidFill>
                <a:latin typeface="Comfortaa"/>
              </a:rPr>
              <a:t>Bold </a:t>
            </a:r>
            <a:r>
              <a:rPr sz="1200" i="1">
                <a:solidFill>
                  <a:srgbClr val="333333"/>
                </a:solidFill>
                <a:latin typeface="Comfortaa"/>
              </a:rPr>
              <a:t>Italic </a:t>
            </a:r>
            <a:r>
              <a:rPr sz="1200" b="1" i="1">
                <a:solidFill>
                  <a:srgbClr val="333333"/>
                </a:solidFill>
                <a:latin typeface="Comfortaa"/>
              </a:rPr>
              <a:t>Bold Italic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3913631"/>
            <a:ext cx="8595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solidFill>
                  <a:srgbClr val="999999"/>
                </a:solidFill>
                <a:latin typeface="Calibri"/>
              </a:rPr>
              <a:t>Lato (sans-serif): </a:t>
            </a:r>
            <a:r>
              <a:rPr sz="1400">
                <a:solidFill>
                  <a:srgbClr val="1A1A1A"/>
                </a:solidFill>
                <a:latin typeface="Lato"/>
              </a:rPr>
              <a:t>AaBbCcDdEeFfGg 0123456789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" y="4297679"/>
            <a:ext cx="8595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333333"/>
                </a:solidFill>
                <a:latin typeface="Lato"/>
              </a:rPr>
              <a:t>Bold </a:t>
            </a:r>
            <a:r>
              <a:rPr sz="1200" i="1">
                <a:solidFill>
                  <a:srgbClr val="333333"/>
                </a:solidFill>
                <a:latin typeface="Lato"/>
              </a:rPr>
              <a:t>Italic </a:t>
            </a:r>
            <a:r>
              <a:rPr sz="1200" b="1" i="1">
                <a:solidFill>
                  <a:srgbClr val="333333"/>
                </a:solidFill>
                <a:latin typeface="Lato"/>
              </a:rPr>
              <a:t>Bold Italic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4754879"/>
            <a:ext cx="8595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solidFill>
                  <a:srgbClr val="999999"/>
                </a:solidFill>
                <a:latin typeface="Calibri"/>
              </a:rPr>
              <a:t>Lato Light (sans-serif, light weight): </a:t>
            </a:r>
            <a:r>
              <a:rPr sz="1400">
                <a:solidFill>
                  <a:srgbClr val="1A1A1A"/>
                </a:solidFill>
                <a:latin typeface="Lato Light"/>
              </a:rPr>
              <a:t>AaBbCcDdEeFfGg 0123456789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" y="5138927"/>
            <a:ext cx="8595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333333"/>
                </a:solidFill>
                <a:latin typeface="Lato Light"/>
              </a:rPr>
              <a:t>Bold </a:t>
            </a:r>
            <a:r>
              <a:rPr sz="1200" i="1">
                <a:solidFill>
                  <a:srgbClr val="333333"/>
                </a:solidFill>
                <a:latin typeface="Lato Light"/>
              </a:rPr>
              <a:t>Italic </a:t>
            </a:r>
            <a:r>
              <a:rPr sz="1200" b="1" i="1">
                <a:solidFill>
                  <a:srgbClr val="333333"/>
                </a:solidFill>
                <a:latin typeface="Lato Light"/>
              </a:rPr>
              <a:t>Bold Italic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" y="5596127"/>
            <a:ext cx="8595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solidFill>
                  <a:srgbClr val="999999"/>
                </a:solidFill>
                <a:latin typeface="Calibri"/>
              </a:rPr>
              <a:t>Montserrat (geometric sans-serif): </a:t>
            </a:r>
            <a:r>
              <a:rPr sz="1400">
                <a:solidFill>
                  <a:srgbClr val="1A1A1A"/>
                </a:solidFill>
                <a:latin typeface="Montserrat"/>
              </a:rPr>
              <a:t>AaBbCcDdEeFfGg 0123456789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" y="5980175"/>
            <a:ext cx="8595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333333"/>
                </a:solidFill>
                <a:latin typeface="Montserrat"/>
              </a:rPr>
              <a:t>Bold </a:t>
            </a:r>
            <a:r>
              <a:rPr sz="1200" i="1">
                <a:solidFill>
                  <a:srgbClr val="333333"/>
                </a:solidFill>
                <a:latin typeface="Montserrat"/>
              </a:rPr>
              <a:t>Italic </a:t>
            </a:r>
            <a:r>
              <a:rPr sz="1200" b="1" i="1">
                <a:solidFill>
                  <a:srgbClr val="333333"/>
                </a:solidFill>
                <a:latin typeface="Montserrat"/>
              </a:rPr>
              <a:t>Bold Italic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33399"/>
                </a:solidFill>
                <a:latin typeface="Calibri"/>
              </a:rPr>
              <a:t>Google Fonts — Sans-Serif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548640"/>
            <a:ext cx="8595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solidFill>
                  <a:srgbClr val="999999"/>
                </a:solidFill>
                <a:latin typeface="Calibri"/>
              </a:rPr>
              <a:t>Open Sans (humanist sans-serif): </a:t>
            </a:r>
            <a:r>
              <a:rPr sz="1400">
                <a:solidFill>
                  <a:srgbClr val="1A1A1A"/>
                </a:solidFill>
                <a:latin typeface="Open Sans"/>
              </a:rPr>
              <a:t>AaBbCcDdEeFfGg 0123456789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932688"/>
            <a:ext cx="8595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333333"/>
                </a:solidFill>
                <a:latin typeface="Open Sans"/>
              </a:rPr>
              <a:t>Bold </a:t>
            </a:r>
            <a:r>
              <a:rPr sz="1200" i="1">
                <a:solidFill>
                  <a:srgbClr val="333333"/>
                </a:solidFill>
                <a:latin typeface="Open Sans"/>
              </a:rPr>
              <a:t>Italic </a:t>
            </a:r>
            <a:r>
              <a:rPr sz="1200" b="1" i="1">
                <a:solidFill>
                  <a:srgbClr val="333333"/>
                </a:solidFill>
                <a:latin typeface="Open Sans"/>
              </a:rPr>
              <a:t>Bold Italic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389888"/>
            <a:ext cx="8595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solidFill>
                  <a:srgbClr val="999999"/>
                </a:solidFill>
                <a:latin typeface="Calibri"/>
              </a:rPr>
              <a:t>Oswald (narrow sans-serif): </a:t>
            </a:r>
            <a:r>
              <a:rPr sz="1400">
                <a:solidFill>
                  <a:srgbClr val="1A1A1A"/>
                </a:solidFill>
                <a:latin typeface="Oswald"/>
              </a:rPr>
              <a:t>AaBbCcDdEeFfGg 0123456789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773936"/>
            <a:ext cx="8595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333333"/>
                </a:solidFill>
                <a:latin typeface="Oswald"/>
              </a:rPr>
              <a:t>Bold </a:t>
            </a:r>
            <a:r>
              <a:rPr sz="1200" i="1">
                <a:solidFill>
                  <a:srgbClr val="333333"/>
                </a:solidFill>
                <a:latin typeface="Oswald"/>
              </a:rPr>
              <a:t>Italic </a:t>
            </a:r>
            <a:r>
              <a:rPr sz="1200" b="1" i="1">
                <a:solidFill>
                  <a:srgbClr val="333333"/>
                </a:solidFill>
                <a:latin typeface="Oswald"/>
              </a:rPr>
              <a:t>Bold Italic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2231136"/>
            <a:ext cx="8595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solidFill>
                  <a:srgbClr val="999999"/>
                </a:solidFill>
                <a:latin typeface="Calibri"/>
              </a:rPr>
              <a:t>Poppins (geometric sans-serif): </a:t>
            </a:r>
            <a:r>
              <a:rPr sz="1400">
                <a:solidFill>
                  <a:srgbClr val="1A1A1A"/>
                </a:solidFill>
                <a:latin typeface="Poppins"/>
              </a:rPr>
              <a:t>AaBbCcDdEeFfGg 0123456789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2615184"/>
            <a:ext cx="8595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333333"/>
                </a:solidFill>
                <a:latin typeface="Poppins"/>
              </a:rPr>
              <a:t>Bold </a:t>
            </a:r>
            <a:r>
              <a:rPr sz="1200" i="1">
                <a:solidFill>
                  <a:srgbClr val="333333"/>
                </a:solidFill>
                <a:latin typeface="Poppins"/>
              </a:rPr>
              <a:t>Italic </a:t>
            </a:r>
            <a:r>
              <a:rPr sz="1200" b="1" i="1">
                <a:solidFill>
                  <a:srgbClr val="333333"/>
                </a:solidFill>
                <a:latin typeface="Poppins"/>
              </a:rPr>
              <a:t>Bold Italic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3072384"/>
            <a:ext cx="8595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solidFill>
                  <a:srgbClr val="999999"/>
                </a:solidFill>
                <a:latin typeface="Calibri"/>
              </a:rPr>
              <a:t>Raleway (elegant sans-serif): </a:t>
            </a:r>
            <a:r>
              <a:rPr sz="1400">
                <a:solidFill>
                  <a:srgbClr val="1A1A1A"/>
                </a:solidFill>
                <a:latin typeface="Raleway"/>
              </a:rPr>
              <a:t>AaBbCcDdEeFfGg 0123456789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3456432"/>
            <a:ext cx="8595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333333"/>
                </a:solidFill>
                <a:latin typeface="Raleway"/>
              </a:rPr>
              <a:t>Bold </a:t>
            </a:r>
            <a:r>
              <a:rPr sz="1200" i="1">
                <a:solidFill>
                  <a:srgbClr val="333333"/>
                </a:solidFill>
                <a:latin typeface="Raleway"/>
              </a:rPr>
              <a:t>Italic </a:t>
            </a:r>
            <a:r>
              <a:rPr sz="1200" b="1" i="1">
                <a:solidFill>
                  <a:srgbClr val="333333"/>
                </a:solidFill>
                <a:latin typeface="Raleway"/>
              </a:rPr>
              <a:t>Bold Italic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3913631"/>
            <a:ext cx="8595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solidFill>
                  <a:srgbClr val="999999"/>
                </a:solidFill>
                <a:latin typeface="Calibri"/>
              </a:rPr>
              <a:t>Roboto (neo-grotesque sans-serif): </a:t>
            </a:r>
            <a:r>
              <a:rPr sz="1400">
                <a:solidFill>
                  <a:srgbClr val="1A1A1A"/>
                </a:solidFill>
                <a:latin typeface="Roboto"/>
              </a:rPr>
              <a:t>AaBbCcDdEeFfGg 0123456789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" y="4297679"/>
            <a:ext cx="8595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333333"/>
                </a:solidFill>
                <a:latin typeface="Roboto"/>
              </a:rPr>
              <a:t>Bold </a:t>
            </a:r>
            <a:r>
              <a:rPr sz="1200" i="1">
                <a:solidFill>
                  <a:srgbClr val="333333"/>
                </a:solidFill>
                <a:latin typeface="Roboto"/>
              </a:rPr>
              <a:t>Italic </a:t>
            </a:r>
            <a:r>
              <a:rPr sz="1200" b="1" i="1">
                <a:solidFill>
                  <a:srgbClr val="333333"/>
                </a:solidFill>
                <a:latin typeface="Roboto"/>
              </a:rPr>
              <a:t>Bold Italic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4754879"/>
            <a:ext cx="8595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solidFill>
                  <a:srgbClr val="999999"/>
                </a:solidFill>
                <a:latin typeface="Calibri"/>
              </a:rPr>
              <a:t>Source Sans Pro (sans-serif): </a:t>
            </a:r>
            <a:r>
              <a:rPr sz="1400">
                <a:solidFill>
                  <a:srgbClr val="1A1A1A"/>
                </a:solidFill>
                <a:latin typeface="Source Sans Pro"/>
              </a:rPr>
              <a:t>AaBbCcDdEeFfGg 0123456789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" y="5138927"/>
            <a:ext cx="8595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333333"/>
                </a:solidFill>
                <a:latin typeface="Source Sans Pro"/>
              </a:rPr>
              <a:t>Bold </a:t>
            </a:r>
            <a:r>
              <a:rPr sz="1200" i="1">
                <a:solidFill>
                  <a:srgbClr val="333333"/>
                </a:solidFill>
                <a:latin typeface="Source Sans Pro"/>
              </a:rPr>
              <a:t>Italic </a:t>
            </a:r>
            <a:r>
              <a:rPr sz="1200" b="1" i="1">
                <a:solidFill>
                  <a:srgbClr val="333333"/>
                </a:solidFill>
                <a:latin typeface="Source Sans Pro"/>
              </a:rPr>
              <a:t>Bold Italic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" y="5596127"/>
            <a:ext cx="8595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solidFill>
                  <a:srgbClr val="999999"/>
                </a:solidFill>
                <a:latin typeface="Calibri"/>
              </a:rPr>
              <a:t>Ubuntu (humanist sans-serif): </a:t>
            </a:r>
            <a:r>
              <a:rPr sz="1400">
                <a:solidFill>
                  <a:srgbClr val="1A1A1A"/>
                </a:solidFill>
                <a:latin typeface="Ubuntu"/>
              </a:rPr>
              <a:t>AaBbCcDdEeFfGg 0123456789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" y="5980175"/>
            <a:ext cx="8595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333333"/>
                </a:solidFill>
                <a:latin typeface="Ubuntu"/>
              </a:rPr>
              <a:t>Bold </a:t>
            </a:r>
            <a:r>
              <a:rPr sz="1200" i="1">
                <a:solidFill>
                  <a:srgbClr val="333333"/>
                </a:solidFill>
                <a:latin typeface="Ubuntu"/>
              </a:rPr>
              <a:t>Italic </a:t>
            </a:r>
            <a:r>
              <a:rPr sz="1200" b="1" i="1">
                <a:solidFill>
                  <a:srgbClr val="333333"/>
                </a:solidFill>
                <a:latin typeface="Ubuntu"/>
              </a:rPr>
              <a:t>Bold Italic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33399"/>
                </a:solidFill>
                <a:latin typeface="Calibri"/>
              </a:rPr>
              <a:t>Google Fonts — Serif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548640"/>
            <a:ext cx="8595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solidFill>
                  <a:srgbClr val="999999"/>
                </a:solidFill>
                <a:latin typeface="Calibri"/>
              </a:rPr>
              <a:t>Noto Serif (serif): </a:t>
            </a:r>
            <a:r>
              <a:rPr sz="1400">
                <a:solidFill>
                  <a:srgbClr val="1A1A1A"/>
                </a:solidFill>
                <a:latin typeface="Noto Serif"/>
              </a:rPr>
              <a:t>AaBbCcDdEeFfGg 0123456789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932688"/>
            <a:ext cx="8595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333333"/>
                </a:solidFill>
                <a:latin typeface="Noto Serif"/>
              </a:rPr>
              <a:t>Bold </a:t>
            </a:r>
            <a:r>
              <a:rPr sz="1200" i="1">
                <a:solidFill>
                  <a:srgbClr val="333333"/>
                </a:solidFill>
                <a:latin typeface="Noto Serif"/>
              </a:rPr>
              <a:t>Italic </a:t>
            </a:r>
            <a:r>
              <a:rPr sz="1200" b="1" i="1">
                <a:solidFill>
                  <a:srgbClr val="333333"/>
                </a:solidFill>
                <a:latin typeface="Noto Serif"/>
              </a:rPr>
              <a:t>Bold Italic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389888"/>
            <a:ext cx="8595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solidFill>
                  <a:srgbClr val="999999"/>
                </a:solidFill>
                <a:latin typeface="Calibri"/>
              </a:rPr>
              <a:t>Playfair Display (transitional serif): </a:t>
            </a:r>
            <a:r>
              <a:rPr sz="1400">
                <a:solidFill>
                  <a:srgbClr val="1A1A1A"/>
                </a:solidFill>
                <a:latin typeface="Playfair Display"/>
              </a:rPr>
              <a:t>AaBbCcDdEeFfGg 0123456789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773936"/>
            <a:ext cx="8595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333333"/>
                </a:solidFill>
                <a:latin typeface="Playfair Display"/>
              </a:rPr>
              <a:t>Bold </a:t>
            </a:r>
            <a:r>
              <a:rPr sz="1200" i="1">
                <a:solidFill>
                  <a:srgbClr val="333333"/>
                </a:solidFill>
                <a:latin typeface="Playfair Display"/>
              </a:rPr>
              <a:t>Italic </a:t>
            </a:r>
            <a:r>
              <a:rPr sz="1200" b="1" i="1">
                <a:solidFill>
                  <a:srgbClr val="333333"/>
                </a:solidFill>
                <a:latin typeface="Playfair Display"/>
              </a:rPr>
              <a:t>Bold Italic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2231136"/>
            <a:ext cx="8595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solidFill>
                  <a:srgbClr val="999999"/>
                </a:solidFill>
                <a:latin typeface="Calibri"/>
              </a:rPr>
              <a:t>Roboto Slab (slab serif): </a:t>
            </a:r>
            <a:r>
              <a:rPr sz="1400">
                <a:solidFill>
                  <a:srgbClr val="1A1A1A"/>
                </a:solidFill>
                <a:latin typeface="Roboto Slab"/>
              </a:rPr>
              <a:t>AaBbCcDdEeFfGg 0123456789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2615184"/>
            <a:ext cx="8595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333333"/>
                </a:solidFill>
                <a:latin typeface="Roboto Slab"/>
              </a:rPr>
              <a:t>Bold </a:t>
            </a:r>
            <a:r>
              <a:rPr sz="1200" i="1">
                <a:solidFill>
                  <a:srgbClr val="333333"/>
                </a:solidFill>
                <a:latin typeface="Roboto Slab"/>
              </a:rPr>
              <a:t>Italic </a:t>
            </a:r>
            <a:r>
              <a:rPr sz="1200" b="1" i="1">
                <a:solidFill>
                  <a:srgbClr val="333333"/>
                </a:solidFill>
                <a:latin typeface="Roboto Slab"/>
              </a:rPr>
              <a:t>Bold Italic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3072384"/>
            <a:ext cx="8595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solidFill>
                  <a:srgbClr val="999999"/>
                </a:solidFill>
                <a:latin typeface="Calibri"/>
              </a:rPr>
              <a:t>Roboto Slab Light (slab serif, light weight): </a:t>
            </a:r>
            <a:r>
              <a:rPr sz="1400">
                <a:solidFill>
                  <a:srgbClr val="1A1A1A"/>
                </a:solidFill>
                <a:latin typeface="Roboto Slab Light"/>
              </a:rPr>
              <a:t>AaBbCcDdEeFfGg 0123456789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3456432"/>
            <a:ext cx="8595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333333"/>
                </a:solidFill>
                <a:latin typeface="Roboto Slab Light"/>
              </a:rPr>
              <a:t>Bold </a:t>
            </a:r>
            <a:r>
              <a:rPr sz="1200" i="1">
                <a:solidFill>
                  <a:srgbClr val="333333"/>
                </a:solidFill>
                <a:latin typeface="Roboto Slab Light"/>
              </a:rPr>
              <a:t>Italic </a:t>
            </a:r>
            <a:r>
              <a:rPr sz="1200" b="1" i="1">
                <a:solidFill>
                  <a:srgbClr val="333333"/>
                </a:solidFill>
                <a:latin typeface="Roboto Slab Light"/>
              </a:rPr>
              <a:t>Bold Italic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3913631"/>
            <a:ext cx="8595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solidFill>
                  <a:srgbClr val="999999"/>
                </a:solidFill>
                <a:latin typeface="Calibri"/>
              </a:rPr>
              <a:t>Roboto Slab SemiBold (slab serif, semibold weight): </a:t>
            </a:r>
            <a:r>
              <a:rPr sz="1400">
                <a:solidFill>
                  <a:srgbClr val="1A1A1A"/>
                </a:solidFill>
                <a:latin typeface="Roboto Slab SemiBold"/>
              </a:rPr>
              <a:t>AaBbCcDdEeFfGg 0123456789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" y="4297679"/>
            <a:ext cx="8595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333333"/>
                </a:solidFill>
                <a:latin typeface="Roboto Slab SemiBold"/>
              </a:rPr>
              <a:t>Bold </a:t>
            </a:r>
            <a:r>
              <a:rPr sz="1200" i="1">
                <a:solidFill>
                  <a:srgbClr val="333333"/>
                </a:solidFill>
                <a:latin typeface="Roboto Slab SemiBold"/>
              </a:rPr>
              <a:t>Italic </a:t>
            </a:r>
            <a:r>
              <a:rPr sz="1200" b="1" i="1">
                <a:solidFill>
                  <a:srgbClr val="333333"/>
                </a:solidFill>
                <a:latin typeface="Roboto Slab SemiBold"/>
              </a:rPr>
              <a:t>Bold Italic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4754879"/>
            <a:ext cx="8595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solidFill>
                  <a:srgbClr val="999999"/>
                </a:solidFill>
                <a:latin typeface="Calibri"/>
              </a:rPr>
              <a:t>Tinos (transitional serif): </a:t>
            </a:r>
            <a:r>
              <a:rPr sz="1400">
                <a:solidFill>
                  <a:srgbClr val="1A1A1A"/>
                </a:solidFill>
                <a:latin typeface="Tinos"/>
              </a:rPr>
              <a:t>AaBbCcDdEeFfGg 0123456789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" y="5138927"/>
            <a:ext cx="8595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333333"/>
                </a:solidFill>
                <a:latin typeface="Tinos"/>
              </a:rPr>
              <a:t>Bold </a:t>
            </a:r>
            <a:r>
              <a:rPr sz="1200" i="1">
                <a:solidFill>
                  <a:srgbClr val="333333"/>
                </a:solidFill>
                <a:latin typeface="Tinos"/>
              </a:rPr>
              <a:t>Italic </a:t>
            </a:r>
            <a:r>
              <a:rPr sz="1200" b="1" i="1">
                <a:solidFill>
                  <a:srgbClr val="333333"/>
                </a:solidFill>
                <a:latin typeface="Tinos"/>
              </a:rPr>
              <a:t>Bold Italic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33399"/>
                </a:solidFill>
                <a:latin typeface="Calibri"/>
              </a:rPr>
              <a:t>Google Fonts — Monospace &amp; Symbols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548640"/>
            <a:ext cx="8595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solidFill>
                  <a:srgbClr val="999999"/>
                </a:solidFill>
                <a:latin typeface="Calibri"/>
              </a:rPr>
              <a:t>Courier Prime (monospace): </a:t>
            </a:r>
            <a:r>
              <a:rPr sz="1400">
                <a:solidFill>
                  <a:srgbClr val="1A1A1A"/>
                </a:solidFill>
                <a:latin typeface="Courier Prime"/>
              </a:rPr>
              <a:t>AaBbCcDdEeFfGg 0123456789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932688"/>
            <a:ext cx="8595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333333"/>
                </a:solidFill>
                <a:latin typeface="Courier Prime"/>
              </a:rPr>
              <a:t>Bold </a:t>
            </a:r>
            <a:r>
              <a:rPr sz="1200" i="1">
                <a:solidFill>
                  <a:srgbClr val="333333"/>
                </a:solidFill>
                <a:latin typeface="Courier Prime"/>
              </a:rPr>
              <a:t>Italic </a:t>
            </a:r>
            <a:r>
              <a:rPr sz="1200" b="1" i="1">
                <a:solidFill>
                  <a:srgbClr val="333333"/>
                </a:solidFill>
                <a:latin typeface="Courier Prime"/>
              </a:rPr>
              <a:t>Bold Italic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389888"/>
            <a:ext cx="8595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solidFill>
                  <a:srgbClr val="999999"/>
                </a:solidFill>
                <a:latin typeface="Calibri"/>
              </a:rPr>
              <a:t>Fira Code (monospace): </a:t>
            </a:r>
            <a:r>
              <a:rPr sz="1400">
                <a:solidFill>
                  <a:srgbClr val="1A1A1A"/>
                </a:solidFill>
                <a:latin typeface="Fira Code"/>
              </a:rPr>
              <a:t>AaBbCcDdEeFfGg 0123456789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773936"/>
            <a:ext cx="8595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333333"/>
                </a:solidFill>
                <a:latin typeface="Fira Code"/>
              </a:rPr>
              <a:t>Bold </a:t>
            </a:r>
            <a:r>
              <a:rPr sz="1200" i="1">
                <a:solidFill>
                  <a:srgbClr val="333333"/>
                </a:solidFill>
                <a:latin typeface="Fira Code"/>
              </a:rPr>
              <a:t>Italic </a:t>
            </a:r>
            <a:r>
              <a:rPr sz="1200" b="1" i="1">
                <a:solidFill>
                  <a:srgbClr val="333333"/>
                </a:solidFill>
                <a:latin typeface="Fira Code"/>
              </a:rPr>
              <a:t>Bold Italic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2231136"/>
            <a:ext cx="8595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solidFill>
                  <a:srgbClr val="999999"/>
                </a:solidFill>
                <a:latin typeface="Calibri"/>
              </a:rPr>
              <a:t>Roboto Mono (monospace): </a:t>
            </a:r>
            <a:r>
              <a:rPr sz="1400">
                <a:solidFill>
                  <a:srgbClr val="1A1A1A"/>
                </a:solidFill>
                <a:latin typeface="Roboto Mono"/>
              </a:rPr>
              <a:t>AaBbCcDdEeFfGg 0123456789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2615184"/>
            <a:ext cx="8595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333333"/>
                </a:solidFill>
                <a:latin typeface="Roboto Mono"/>
              </a:rPr>
              <a:t>Bold </a:t>
            </a:r>
            <a:r>
              <a:rPr sz="1200" i="1">
                <a:solidFill>
                  <a:srgbClr val="333333"/>
                </a:solidFill>
                <a:latin typeface="Roboto Mono"/>
              </a:rPr>
              <a:t>Italic </a:t>
            </a:r>
            <a:r>
              <a:rPr sz="1200" b="1" i="1">
                <a:solidFill>
                  <a:srgbClr val="333333"/>
                </a:solidFill>
                <a:latin typeface="Roboto Mono"/>
              </a:rPr>
              <a:t>Bold Italic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3072384"/>
            <a:ext cx="8595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solidFill>
                  <a:srgbClr val="999999"/>
                </a:solidFill>
                <a:latin typeface="Calibri"/>
              </a:rPr>
              <a:t>Source Code Pro (monospace): </a:t>
            </a:r>
            <a:r>
              <a:rPr sz="1400">
                <a:solidFill>
                  <a:srgbClr val="1A1A1A"/>
                </a:solidFill>
                <a:latin typeface="Source Code Pro"/>
              </a:rPr>
              <a:t>AaBbCcDdEeFfGg 0123456789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3456432"/>
            <a:ext cx="8595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333333"/>
                </a:solidFill>
                <a:latin typeface="Source Code Pro"/>
              </a:rPr>
              <a:t>Bold </a:t>
            </a:r>
            <a:r>
              <a:rPr sz="1200" i="1">
                <a:solidFill>
                  <a:srgbClr val="333333"/>
                </a:solidFill>
                <a:latin typeface="Source Code Pro"/>
              </a:rPr>
              <a:t>Italic </a:t>
            </a:r>
            <a:r>
              <a:rPr sz="1200" b="1" i="1">
                <a:solidFill>
                  <a:srgbClr val="333333"/>
                </a:solidFill>
                <a:latin typeface="Source Code Pro"/>
              </a:rPr>
              <a:t>Bold Italic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3913631"/>
            <a:ext cx="8595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solidFill>
                  <a:srgbClr val="999999"/>
                </a:solidFill>
                <a:latin typeface="Calibri"/>
              </a:rPr>
              <a:t>Noto Sans Symbols (symbols &amp; arrows): </a:t>
            </a:r>
            <a:r>
              <a:rPr sz="1400">
                <a:solidFill>
                  <a:srgbClr val="1A1A1A"/>
                </a:solidFill>
                <a:latin typeface="Noto Sans Symbols"/>
              </a:rPr>
              <a:t>AaBbCcDdEeFfGg 0123456789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" y="4297679"/>
            <a:ext cx="8595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333333"/>
                </a:solidFill>
                <a:latin typeface="Noto Sans Symbols"/>
              </a:rPr>
              <a:t>Bold </a:t>
            </a:r>
            <a:r>
              <a:rPr sz="1200" i="1">
                <a:solidFill>
                  <a:srgbClr val="333333"/>
                </a:solidFill>
                <a:latin typeface="Noto Sans Symbols"/>
              </a:rPr>
              <a:t>Italic </a:t>
            </a:r>
            <a:r>
              <a:rPr sz="1200" b="1" i="1">
                <a:solidFill>
                  <a:srgbClr val="333333"/>
                </a:solidFill>
                <a:latin typeface="Noto Sans Symbols"/>
              </a:rPr>
              <a:t>Bold Italic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33399"/>
                </a:solidFill>
                <a:latin typeface="Calibri"/>
              </a:rPr>
              <a:t>Size Comparison — Core Fonts at Multiple Sizes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548640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solidFill>
                  <a:srgbClr val="999999"/>
                </a:solidFill>
                <a:latin typeface="Calibri"/>
              </a:rPr>
              <a:t>Calibri 10pt: </a:t>
            </a:r>
            <a:r>
              <a:rPr sz="1000">
                <a:solidFill>
                  <a:srgbClr val="1A1A1A"/>
                </a:solidFill>
                <a:latin typeface="Calibri"/>
              </a:rPr>
              <a:t>Hamburgevons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868680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solidFill>
                  <a:srgbClr val="999999"/>
                </a:solidFill>
                <a:latin typeface="Calibri"/>
              </a:rPr>
              <a:t>Calibri 14pt: </a:t>
            </a:r>
            <a:r>
              <a:rPr sz="1400">
                <a:solidFill>
                  <a:srgbClr val="1A1A1A"/>
                </a:solidFill>
                <a:latin typeface="Calibri"/>
              </a:rPr>
              <a:t>Hamburgevons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188719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solidFill>
                  <a:srgbClr val="999999"/>
                </a:solidFill>
                <a:latin typeface="Calibri"/>
              </a:rPr>
              <a:t>Calibri 20pt: </a:t>
            </a:r>
            <a:r>
              <a:rPr sz="2000">
                <a:solidFill>
                  <a:srgbClr val="1A1A1A"/>
                </a:solidFill>
                <a:latin typeface="Calibri"/>
              </a:rPr>
              <a:t>Hamburgevons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544319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solidFill>
                  <a:srgbClr val="999999"/>
                </a:solidFill>
                <a:latin typeface="Calibri"/>
              </a:rPr>
              <a:t>Calibri 28pt: </a:t>
            </a:r>
            <a:r>
              <a:rPr sz="2800">
                <a:solidFill>
                  <a:srgbClr val="1A1A1A"/>
                </a:solidFill>
                <a:latin typeface="Calibri"/>
              </a:rPr>
              <a:t>Hamburgevons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2042159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solidFill>
                  <a:srgbClr val="999999"/>
                </a:solidFill>
                <a:latin typeface="Calibri"/>
              </a:rPr>
              <a:t>Calibri 36pt: </a:t>
            </a:r>
            <a:r>
              <a:rPr sz="3600">
                <a:solidFill>
                  <a:srgbClr val="1A1A1A"/>
                </a:solidFill>
                <a:latin typeface="Calibri"/>
              </a:rPr>
              <a:t>Hamburgevons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2819399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solidFill>
                  <a:srgbClr val="999999"/>
                </a:solidFill>
                <a:latin typeface="Calibri"/>
              </a:rPr>
              <a:t>Arial 10pt: </a:t>
            </a:r>
            <a:r>
              <a:rPr sz="1000">
                <a:solidFill>
                  <a:srgbClr val="1A1A1A"/>
                </a:solidFill>
                <a:latin typeface="Arial"/>
              </a:rPr>
              <a:t>Hamburgevons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3139439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solidFill>
                  <a:srgbClr val="999999"/>
                </a:solidFill>
                <a:latin typeface="Calibri"/>
              </a:rPr>
              <a:t>Arial 14pt: </a:t>
            </a:r>
            <a:r>
              <a:rPr sz="1400">
                <a:solidFill>
                  <a:srgbClr val="1A1A1A"/>
                </a:solidFill>
                <a:latin typeface="Arial"/>
              </a:rPr>
              <a:t>Hamburgevons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3459479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solidFill>
                  <a:srgbClr val="999999"/>
                </a:solidFill>
                <a:latin typeface="Calibri"/>
              </a:rPr>
              <a:t>Arial 20pt: </a:t>
            </a:r>
            <a:r>
              <a:rPr sz="2000">
                <a:solidFill>
                  <a:srgbClr val="1A1A1A"/>
                </a:solidFill>
                <a:latin typeface="Arial"/>
              </a:rPr>
              <a:t>Hamburgevons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3815079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solidFill>
                  <a:srgbClr val="999999"/>
                </a:solidFill>
                <a:latin typeface="Calibri"/>
              </a:rPr>
              <a:t>Arial 28pt: </a:t>
            </a:r>
            <a:r>
              <a:rPr sz="2800">
                <a:solidFill>
                  <a:srgbClr val="1A1A1A"/>
                </a:solidFill>
                <a:latin typeface="Arial"/>
              </a:rPr>
              <a:t>Hamburgevons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" y="4312919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solidFill>
                  <a:srgbClr val="999999"/>
                </a:solidFill>
                <a:latin typeface="Calibri"/>
              </a:rPr>
              <a:t>Arial 36pt: </a:t>
            </a:r>
            <a:r>
              <a:rPr sz="3600">
                <a:solidFill>
                  <a:srgbClr val="1A1A1A"/>
                </a:solidFill>
                <a:latin typeface="Arial"/>
              </a:rPr>
              <a:t>Hamburgevons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5090160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solidFill>
                  <a:srgbClr val="999999"/>
                </a:solidFill>
                <a:latin typeface="Calibri"/>
              </a:rPr>
              <a:t>Times New Roman 10pt: </a:t>
            </a:r>
            <a:r>
              <a:rPr sz="1000">
                <a:solidFill>
                  <a:srgbClr val="1A1A1A"/>
                </a:solidFill>
                <a:latin typeface="Times New Roman"/>
              </a:rPr>
              <a:t>Hamburgevons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" y="5410199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solidFill>
                  <a:srgbClr val="999999"/>
                </a:solidFill>
                <a:latin typeface="Calibri"/>
              </a:rPr>
              <a:t>Times New Roman 14pt: </a:t>
            </a:r>
            <a:r>
              <a:rPr sz="1400">
                <a:solidFill>
                  <a:srgbClr val="1A1A1A"/>
                </a:solidFill>
                <a:latin typeface="Times New Roman"/>
              </a:rPr>
              <a:t>Hamburgevons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" y="5730239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solidFill>
                  <a:srgbClr val="999999"/>
                </a:solidFill>
                <a:latin typeface="Calibri"/>
              </a:rPr>
              <a:t>Times New Roman 20pt: </a:t>
            </a:r>
            <a:r>
              <a:rPr sz="2000">
                <a:solidFill>
                  <a:srgbClr val="1A1A1A"/>
                </a:solidFill>
                <a:latin typeface="Times New Roman"/>
              </a:rPr>
              <a:t>Hamburgevons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" y="6085839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solidFill>
                  <a:srgbClr val="999999"/>
                </a:solidFill>
                <a:latin typeface="Calibri"/>
              </a:rPr>
              <a:t>Times New Roman 28pt: </a:t>
            </a:r>
            <a:r>
              <a:rPr sz="2800">
                <a:solidFill>
                  <a:srgbClr val="1A1A1A"/>
                </a:solidFill>
                <a:latin typeface="Times New Roman"/>
              </a:rPr>
              <a:t>Hamburgevons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" y="6583679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solidFill>
                  <a:srgbClr val="999999"/>
                </a:solidFill>
                <a:latin typeface="Calibri"/>
              </a:rPr>
              <a:t>Times New Roman 36pt: </a:t>
            </a:r>
            <a:r>
              <a:rPr sz="3600">
                <a:solidFill>
                  <a:srgbClr val="1A1A1A"/>
                </a:solidFill>
                <a:latin typeface="Times New Roman"/>
              </a:rPr>
              <a:t>Hamburgevons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33399"/>
                </a:solidFill>
                <a:latin typeface="Calibri"/>
              </a:rPr>
              <a:t>Mixed Font Paragraphs (Real-World Scenarios)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00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1A1A1A"/>
                </a:solidFill>
                <a:latin typeface="Calibri"/>
              </a:rPr>
              <a:t>Revenue grew </a:t>
            </a:r>
            <a:r>
              <a:rPr sz="1600" b="1" i="0">
                <a:solidFill>
                  <a:srgbClr val="1A1A1A"/>
                </a:solidFill>
                <a:latin typeface="Calibri"/>
              </a:rPr>
              <a:t>23.5%</a:t>
            </a:r>
            <a:r>
              <a:rPr sz="1600" b="0" i="0">
                <a:solidFill>
                  <a:srgbClr val="1A1A1A"/>
                </a:solidFill>
                <a:latin typeface="Calibri"/>
              </a:rPr>
              <a:t> year-over-year, driven by </a:t>
            </a:r>
            <a:r>
              <a:rPr sz="1600" b="1" i="1">
                <a:solidFill>
                  <a:srgbClr val="1A1A1A"/>
                </a:solidFill>
                <a:latin typeface="Calibri"/>
              </a:rPr>
              <a:t>strong Q4 performance</a:t>
            </a:r>
            <a:r>
              <a:rPr sz="1600" b="0" i="0">
                <a:solidFill>
                  <a:srgbClr val="1A1A1A"/>
                </a:solidFill>
                <a:latin typeface="Calibri"/>
              </a:rPr>
              <a:t>. Source: </a:t>
            </a:r>
            <a:r>
              <a:rPr sz="1600" b="0" i="0">
                <a:solidFill>
                  <a:srgbClr val="1A1A1A"/>
                </a:solidFill>
                <a:latin typeface="Courier New"/>
              </a:rPr>
              <a:t>Bloomberg Terminal</a:t>
            </a:r>
            <a:r>
              <a:rPr sz="1600" b="0" i="0">
                <a:solidFill>
                  <a:srgbClr val="1A1A1A"/>
                </a:solidFill>
                <a:latin typeface="Calibri"/>
              </a:rPr>
              <a:t> data feed.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0312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2D2D2D"/>
                </a:solidFill>
                <a:latin typeface="Segoe UI"/>
              </a:rPr>
              <a:t>The function </a:t>
            </a:r>
            <a:r>
              <a:rPr sz="1400" b="0">
                <a:solidFill>
                  <a:srgbClr val="2D2D2D"/>
                </a:solidFill>
                <a:latin typeface="Fira Code"/>
              </a:rPr>
              <a:t>calculateMetrics()</a:t>
            </a:r>
            <a:r>
              <a:rPr sz="1400" b="0">
                <a:solidFill>
                  <a:srgbClr val="2D2D2D"/>
                </a:solidFill>
                <a:latin typeface="Segoe UI"/>
              </a:rPr>
              <a:t> accepts a </a:t>
            </a:r>
            <a:r>
              <a:rPr sz="1400" b="1">
                <a:solidFill>
                  <a:srgbClr val="2D2D2D"/>
                </a:solidFill>
                <a:latin typeface="Source Code Pro"/>
              </a:rPr>
              <a:t>FontFamily</a:t>
            </a:r>
            <a:r>
              <a:rPr sz="1400" b="0">
                <a:solidFill>
                  <a:srgbClr val="2D2D2D"/>
                </a:solidFill>
                <a:latin typeface="Segoe UI"/>
              </a:rPr>
              <a:t> parameter and returns </a:t>
            </a:r>
            <a:r>
              <a:rPr sz="1400" b="1">
                <a:solidFill>
                  <a:srgbClr val="2D2D2D"/>
                </a:solidFill>
                <a:latin typeface="Roboto Mono"/>
              </a:rPr>
              <a:t>AdvanceWidth[]</a:t>
            </a:r>
            <a:r>
              <a:rPr sz="1400" b="0">
                <a:solidFill>
                  <a:srgbClr val="2D2D2D"/>
                </a:solidFill>
                <a:latin typeface="Segoe U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38328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1A1A1A"/>
                </a:solidFill>
                <a:latin typeface="Noto Sans"/>
              </a:rPr>
              <a:t>Arrows: </a:t>
            </a:r>
            <a:r>
              <a:rPr sz="1600" b="0">
                <a:solidFill>
                  <a:srgbClr val="1A1A1A"/>
                </a:solidFill>
                <a:latin typeface="Noto Sans Symbols"/>
              </a:rPr>
              <a:t>← ↑ → ↓ ⇐ ⇒</a:t>
            </a:r>
            <a:r>
              <a:rPr sz="1600" b="0">
                <a:solidFill>
                  <a:srgbClr val="1A1A1A"/>
                </a:solidFill>
                <a:latin typeface="Noto Sans"/>
              </a:rPr>
              <a:t>  Math: </a:t>
            </a:r>
            <a:r>
              <a:rPr sz="1600" b="0">
                <a:solidFill>
                  <a:srgbClr val="1A1A1A"/>
                </a:solidFill>
                <a:latin typeface="Noto Sans Symbols"/>
              </a:rPr>
              <a:t>∀x ∈ ℝ, ∃y: x² + y² = 1</a:t>
            </a:r>
            <a:r>
              <a:rPr sz="1600" b="0">
                <a:solidFill>
                  <a:srgbClr val="1A1A1A"/>
                </a:solidFill>
                <a:latin typeface="Noto Sans"/>
              </a:rPr>
              <a:t>  Currency: £ € ¥ 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4805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A1A1A"/>
                </a:solidFill>
                <a:latin typeface="Montserrat"/>
              </a:rPr>
              <a:t>Heading 1 — Montserrat Bold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139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solidFill>
                  <a:srgbClr val="1A1A1A"/>
                </a:solidFill>
                <a:latin typeface="Raleway"/>
              </a:rPr>
              <a:t>Heading 2 — Raleway Regular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4330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1A1A1A"/>
                </a:solidFill>
                <a:latin typeface="Poppins"/>
              </a:rPr>
              <a:t>Heading 3 — Poppins Bold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7759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1A1A1A"/>
                </a:solidFill>
                <a:latin typeface="Roboto"/>
              </a:rPr>
              <a:t>Body text in Roboto. Lorem ipsum dolor sit amet, consectetur adipiscing elit.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095999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1A1A1A"/>
                </a:solidFill>
                <a:latin typeface="Lato Light"/>
              </a:rPr>
              <a:t>Caption in Lato Light italic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33399"/>
                </a:solidFill>
                <a:latin typeface="Calibri"/>
              </a:rPr>
              <a:t>Calibri — Office default body font (Carlito substitute)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502920"/>
            <a:ext cx="8595360" cy="57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999999"/>
                </a:solidFill>
                <a:latin typeface="Calibri"/>
              </a:rPr>
              <a:t>Regular 24pt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85800"/>
            <a:ext cx="8595360" cy="57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 i="0">
                <a:solidFill>
                  <a:srgbClr val="1A1A1A"/>
                </a:solidFill>
                <a:latin typeface="Calibri"/>
              </a:rPr>
              <a:t>ABCDEFGHIJKLMNOPQRSTUVWXYZ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173480"/>
            <a:ext cx="8595360" cy="57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 i="0">
                <a:solidFill>
                  <a:srgbClr val="1A1A1A"/>
                </a:solidFill>
                <a:latin typeface="Calibri"/>
              </a:rPr>
              <a:t>abcdefghijklmnopqrstuvwxyz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661159"/>
            <a:ext cx="8595360" cy="49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 i="0">
                <a:solidFill>
                  <a:srgbClr val="1A1A1A"/>
                </a:solidFill>
                <a:latin typeface="Calibri"/>
              </a:rPr>
              <a:t>0123456789 !@#$%^&amp;*()+-=[]{}|;':",./&lt;&gt;?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206756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i="0">
                <a:solidFill>
                  <a:srgbClr val="1A1A1A"/>
                </a:solidFill>
                <a:latin typeface="Calibri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2341880"/>
            <a:ext cx="8595360" cy="49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i="0">
                <a:solidFill>
                  <a:srgbClr val="999999"/>
                </a:solidFill>
                <a:latin typeface="Calibri"/>
              </a:rPr>
              <a:t>Bold 20pt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2524760"/>
            <a:ext cx="8595360" cy="49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 i="0">
                <a:solidFill>
                  <a:srgbClr val="1A1A1A"/>
                </a:solidFill>
                <a:latin typeface="Calibri"/>
              </a:rPr>
              <a:t>The quick brown fox jumps over the lazy dog.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293116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i="0">
                <a:solidFill>
                  <a:srgbClr val="1A1A1A"/>
                </a:solidFill>
                <a:latin typeface="Calibr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3205480"/>
            <a:ext cx="8595360" cy="49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1">
                <a:solidFill>
                  <a:srgbClr val="999999"/>
                </a:solidFill>
                <a:latin typeface="Calibri"/>
              </a:rPr>
              <a:t>Italic 20pt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" y="3388360"/>
            <a:ext cx="8595360" cy="49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 i="1">
                <a:solidFill>
                  <a:srgbClr val="1A1A1A"/>
                </a:solidFill>
                <a:latin typeface="Calibri"/>
              </a:rPr>
              <a:t>The quick brown fox jumps over the lazy dog.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379476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i="0">
                <a:solidFill>
                  <a:srgbClr val="1A1A1A"/>
                </a:solidFill>
                <a:latin typeface="Calibri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" y="4069080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i="1">
                <a:solidFill>
                  <a:srgbClr val="999999"/>
                </a:solidFill>
                <a:latin typeface="Calibri"/>
              </a:rPr>
              <a:t>Bold Italic 18pt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" y="4251960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1">
                <a:solidFill>
                  <a:srgbClr val="1A1A1A"/>
                </a:solidFill>
                <a:latin typeface="Calibri"/>
              </a:rPr>
              <a:t>The quick brown fox jumps over the lazy dog.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" y="461772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i="0">
                <a:solidFill>
                  <a:srgbClr val="1A1A1A"/>
                </a:solidFill>
                <a:latin typeface="Calibri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" y="489204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999999"/>
                </a:solidFill>
                <a:latin typeface="Calibri"/>
              </a:rPr>
              <a:t>Small 10pt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" y="507492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1A1A1A"/>
                </a:solidFill>
                <a:latin typeface="Calibri"/>
              </a:rPr>
              <a:t>Lorem ipsum dolor sit amet, consectetur adipiscing elit. Sed do eiusmod tempor incididunt ut labore et dolore magna aliqua. Ut enim ad minim veniam, quis nostrud exercitation ullamco laboris.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33399"/>
                </a:solidFill>
                <a:latin typeface="Calibri"/>
              </a:rPr>
              <a:t>Arial — Universal sans-serif (Liberation Sans)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502920"/>
            <a:ext cx="8595360" cy="57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999999"/>
                </a:solidFill>
                <a:latin typeface="Calibri"/>
              </a:rPr>
              <a:t>Regular 24pt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85800"/>
            <a:ext cx="8595360" cy="57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 i="0">
                <a:solidFill>
                  <a:srgbClr val="1A1A1A"/>
                </a:solidFill>
                <a:latin typeface="Arial"/>
              </a:rPr>
              <a:t>ABCDEFGHIJKLMNOPQRSTUVWXYZ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173480"/>
            <a:ext cx="8595360" cy="57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 i="0">
                <a:solidFill>
                  <a:srgbClr val="1A1A1A"/>
                </a:solidFill>
                <a:latin typeface="Arial"/>
              </a:rPr>
              <a:t>abcdefghijklmnopqrstuvwxyz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661159"/>
            <a:ext cx="8595360" cy="49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 i="0">
                <a:solidFill>
                  <a:srgbClr val="1A1A1A"/>
                </a:solidFill>
                <a:latin typeface="Arial"/>
              </a:rPr>
              <a:t>0123456789 !@#$%^&amp;*()+-=[]{}|;':",./&lt;&gt;?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206756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i="0">
                <a:solidFill>
                  <a:srgbClr val="1A1A1A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2341880"/>
            <a:ext cx="8595360" cy="49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i="0">
                <a:solidFill>
                  <a:srgbClr val="999999"/>
                </a:solidFill>
                <a:latin typeface="Calibri"/>
              </a:rPr>
              <a:t>Bold 20pt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2524760"/>
            <a:ext cx="8595360" cy="49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 i="0">
                <a:solidFill>
                  <a:srgbClr val="1A1A1A"/>
                </a:solidFill>
                <a:latin typeface="Arial"/>
              </a:rPr>
              <a:t>The quick brown fox jumps over the lazy dog.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293116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i="0">
                <a:solidFill>
                  <a:srgbClr val="1A1A1A"/>
                </a:solidFill>
                <a:latin typeface="Arial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3205480"/>
            <a:ext cx="8595360" cy="49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1">
                <a:solidFill>
                  <a:srgbClr val="999999"/>
                </a:solidFill>
                <a:latin typeface="Calibri"/>
              </a:rPr>
              <a:t>Italic 20pt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" y="3388360"/>
            <a:ext cx="8595360" cy="49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 i="1">
                <a:solidFill>
                  <a:srgbClr val="1A1A1A"/>
                </a:solidFill>
                <a:latin typeface="Arial"/>
              </a:rPr>
              <a:t>The quick brown fox jumps over the lazy dog.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379476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i="0">
                <a:solidFill>
                  <a:srgbClr val="1A1A1A"/>
                </a:solidFill>
                <a:latin typeface="Arial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" y="4069080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i="1">
                <a:solidFill>
                  <a:srgbClr val="999999"/>
                </a:solidFill>
                <a:latin typeface="Calibri"/>
              </a:rPr>
              <a:t>Bold Italic 18pt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" y="4251960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1">
                <a:solidFill>
                  <a:srgbClr val="1A1A1A"/>
                </a:solidFill>
                <a:latin typeface="Arial"/>
              </a:rPr>
              <a:t>The quick brown fox jumps over the lazy dog.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" y="461772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i="0">
                <a:solidFill>
                  <a:srgbClr val="1A1A1A"/>
                </a:solidFill>
                <a:latin typeface="Arial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" y="489204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999999"/>
                </a:solidFill>
                <a:latin typeface="Calibri"/>
              </a:rPr>
              <a:t>Small 10pt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" y="507492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1A1A1A"/>
                </a:solidFill>
                <a:latin typeface="Arial"/>
              </a:rPr>
              <a:t>Lorem ipsum dolor sit amet, consectetur adipiscing elit. Sed do eiusmod tempor incididunt ut labore et dolore magna aliqua. Ut enim ad minim veniam, quis nostrud exercitation ullamco laboris.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33399"/>
                </a:solidFill>
                <a:latin typeface="Calibri"/>
              </a:rPr>
              <a:t>Times New Roman — Classic serif (Liberation Serif)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502920"/>
            <a:ext cx="8595360" cy="57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999999"/>
                </a:solidFill>
                <a:latin typeface="Calibri"/>
              </a:rPr>
              <a:t>Regular 24pt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85800"/>
            <a:ext cx="8595360" cy="57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 i="0">
                <a:solidFill>
                  <a:srgbClr val="1A1A1A"/>
                </a:solidFill>
                <a:latin typeface="Times New Roman"/>
              </a:rPr>
              <a:t>ABCDEFGHIJKLMNOPQRSTUVWXYZ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173480"/>
            <a:ext cx="8595360" cy="57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 i="0">
                <a:solidFill>
                  <a:srgbClr val="1A1A1A"/>
                </a:solidFill>
                <a:latin typeface="Times New Roman"/>
              </a:rPr>
              <a:t>abcdefghijklmnopqrstuvwxyz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661159"/>
            <a:ext cx="8595360" cy="49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 i="0">
                <a:solidFill>
                  <a:srgbClr val="1A1A1A"/>
                </a:solidFill>
                <a:latin typeface="Times New Roman"/>
              </a:rPr>
              <a:t>0123456789 !@#$%^&amp;*()+-=[]{}|;':",./&lt;&gt;?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206756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i="0">
                <a:solidFill>
                  <a:srgbClr val="1A1A1A"/>
                </a:solidFill>
                <a:latin typeface="Times New Roman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2341880"/>
            <a:ext cx="8595360" cy="49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i="0">
                <a:solidFill>
                  <a:srgbClr val="999999"/>
                </a:solidFill>
                <a:latin typeface="Calibri"/>
              </a:rPr>
              <a:t>Bold 20pt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2524760"/>
            <a:ext cx="8595360" cy="49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 i="0">
                <a:solidFill>
                  <a:srgbClr val="1A1A1A"/>
                </a:solidFill>
                <a:latin typeface="Times New Roman"/>
              </a:rPr>
              <a:t>The quick brown fox jumps over the lazy dog.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293116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i="0">
                <a:solidFill>
                  <a:srgbClr val="1A1A1A"/>
                </a:solidFill>
                <a:latin typeface="Times New Roman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3205480"/>
            <a:ext cx="8595360" cy="49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1">
                <a:solidFill>
                  <a:srgbClr val="999999"/>
                </a:solidFill>
                <a:latin typeface="Calibri"/>
              </a:rPr>
              <a:t>Italic 20pt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" y="3388360"/>
            <a:ext cx="8595360" cy="49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 i="1">
                <a:solidFill>
                  <a:srgbClr val="1A1A1A"/>
                </a:solidFill>
                <a:latin typeface="Times New Roman"/>
              </a:rPr>
              <a:t>The quick brown fox jumps over the lazy dog.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379476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i="0">
                <a:solidFill>
                  <a:srgbClr val="1A1A1A"/>
                </a:solidFill>
                <a:latin typeface="Times New Roman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" y="4069080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i="1">
                <a:solidFill>
                  <a:srgbClr val="999999"/>
                </a:solidFill>
                <a:latin typeface="Calibri"/>
              </a:rPr>
              <a:t>Bold Italic 18pt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" y="4251960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1">
                <a:solidFill>
                  <a:srgbClr val="1A1A1A"/>
                </a:solidFill>
                <a:latin typeface="Times New Roman"/>
              </a:rPr>
              <a:t>The quick brown fox jumps over the lazy dog.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" y="461772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i="0">
                <a:solidFill>
                  <a:srgbClr val="1A1A1A"/>
                </a:solidFill>
                <a:latin typeface="Times New Roman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" y="489204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999999"/>
                </a:solidFill>
                <a:latin typeface="Calibri"/>
              </a:rPr>
              <a:t>Small 10pt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" y="507492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1A1A1A"/>
                </a:solidFill>
                <a:latin typeface="Times New Roman"/>
              </a:rPr>
              <a:t>Lorem ipsum dolor sit amet, consectetur adipiscing elit. Sed do eiusmod tempor incididunt ut labore et dolore magna aliqua. Ut enim ad minim veniam, quis nostrud exercitation ullamco laboris.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33399"/>
                </a:solidFill>
                <a:latin typeface="Calibri"/>
              </a:rPr>
              <a:t>Courier New — Classic monospace (Liberation Mono)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502920"/>
            <a:ext cx="8595360" cy="57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999999"/>
                </a:solidFill>
                <a:latin typeface="Calibri"/>
              </a:rPr>
              <a:t>Regular 24pt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85800"/>
            <a:ext cx="8595360" cy="57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 i="0">
                <a:solidFill>
                  <a:srgbClr val="1A1A1A"/>
                </a:solidFill>
                <a:latin typeface="Courier New"/>
              </a:rPr>
              <a:t>ABCDEFGHIJKLMNOPQRSTUVWXYZ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173480"/>
            <a:ext cx="8595360" cy="57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 i="0">
                <a:solidFill>
                  <a:srgbClr val="1A1A1A"/>
                </a:solidFill>
                <a:latin typeface="Courier New"/>
              </a:rPr>
              <a:t>abcdefghijklmnopqrstuvwxyz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661159"/>
            <a:ext cx="8595360" cy="49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 i="0">
                <a:solidFill>
                  <a:srgbClr val="1A1A1A"/>
                </a:solidFill>
                <a:latin typeface="Courier New"/>
              </a:rPr>
              <a:t>0123456789 !@#$%^&amp;*()+-=[]{}|;':",./&lt;&gt;?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206756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i="0">
                <a:solidFill>
                  <a:srgbClr val="1A1A1A"/>
                </a:solidFill>
                <a:latin typeface="Courier New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2341880"/>
            <a:ext cx="8595360" cy="49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i="0">
                <a:solidFill>
                  <a:srgbClr val="999999"/>
                </a:solidFill>
                <a:latin typeface="Calibri"/>
              </a:rPr>
              <a:t>Bold 20pt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2524760"/>
            <a:ext cx="8595360" cy="49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 i="0">
                <a:solidFill>
                  <a:srgbClr val="1A1A1A"/>
                </a:solidFill>
                <a:latin typeface="Courier New"/>
              </a:rPr>
              <a:t>The quick brown fox jumps over the lazy dog.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293116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i="0">
                <a:solidFill>
                  <a:srgbClr val="1A1A1A"/>
                </a:solidFill>
                <a:latin typeface="Courier New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3205480"/>
            <a:ext cx="8595360" cy="49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1">
                <a:solidFill>
                  <a:srgbClr val="999999"/>
                </a:solidFill>
                <a:latin typeface="Calibri"/>
              </a:rPr>
              <a:t>Italic 20pt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" y="3388360"/>
            <a:ext cx="8595360" cy="49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 i="1">
                <a:solidFill>
                  <a:srgbClr val="1A1A1A"/>
                </a:solidFill>
                <a:latin typeface="Courier New"/>
              </a:rPr>
              <a:t>The quick brown fox jumps over the lazy dog.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379476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i="0">
                <a:solidFill>
                  <a:srgbClr val="1A1A1A"/>
                </a:solidFill>
                <a:latin typeface="Courier New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" y="4069080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i="1">
                <a:solidFill>
                  <a:srgbClr val="999999"/>
                </a:solidFill>
                <a:latin typeface="Calibri"/>
              </a:rPr>
              <a:t>Bold Italic 18pt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" y="4251960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1">
                <a:solidFill>
                  <a:srgbClr val="1A1A1A"/>
                </a:solidFill>
                <a:latin typeface="Courier New"/>
              </a:rPr>
              <a:t>The quick brown fox jumps over the lazy dog.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" y="461772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i="0">
                <a:solidFill>
                  <a:srgbClr val="1A1A1A"/>
                </a:solidFill>
                <a:latin typeface="Courier New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" y="489204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999999"/>
                </a:solidFill>
                <a:latin typeface="Calibri"/>
              </a:rPr>
              <a:t>Small 10pt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" y="507492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1A1A1A"/>
                </a:solidFill>
                <a:latin typeface="Courier New"/>
              </a:rPr>
              <a:t>Lorem ipsum dolor sit amet, consectetur adipiscing elit. Sed do eiusmod tempor incididunt ut labore et dolore magna aliqua. Ut enim ad minim veniam, quis nostrud exercitation ullamco laboris.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33399"/>
                </a:solidFill>
                <a:latin typeface="Calibri"/>
              </a:rPr>
              <a:t>Georgia — Screen-optimized serif (Gelasio)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502920"/>
            <a:ext cx="8595360" cy="57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999999"/>
                </a:solidFill>
                <a:latin typeface="Calibri"/>
              </a:rPr>
              <a:t>Regular 24pt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85800"/>
            <a:ext cx="8595360" cy="57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 i="0">
                <a:solidFill>
                  <a:srgbClr val="1A1A1A"/>
                </a:solidFill>
                <a:latin typeface="Georgia"/>
              </a:rPr>
              <a:t>ABCDEFGHIJKLMNOPQRSTUVWXYZ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173480"/>
            <a:ext cx="8595360" cy="57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 i="0">
                <a:solidFill>
                  <a:srgbClr val="1A1A1A"/>
                </a:solidFill>
                <a:latin typeface="Georgia"/>
              </a:rPr>
              <a:t>abcdefghijklmnopqrstuvwxyz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661159"/>
            <a:ext cx="8595360" cy="49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 i="0">
                <a:solidFill>
                  <a:srgbClr val="1A1A1A"/>
                </a:solidFill>
                <a:latin typeface="Georgia"/>
              </a:rPr>
              <a:t>0123456789 !@#$%^&amp;*()+-=[]{}|;':",./&lt;&gt;?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206756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i="0">
                <a:solidFill>
                  <a:srgbClr val="1A1A1A"/>
                </a:solidFill>
                <a:latin typeface="Georgia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2341880"/>
            <a:ext cx="8595360" cy="49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i="0">
                <a:solidFill>
                  <a:srgbClr val="999999"/>
                </a:solidFill>
                <a:latin typeface="Calibri"/>
              </a:rPr>
              <a:t>Bold 20pt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2524760"/>
            <a:ext cx="8595360" cy="49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 i="0">
                <a:solidFill>
                  <a:srgbClr val="1A1A1A"/>
                </a:solidFill>
                <a:latin typeface="Georgia"/>
              </a:rPr>
              <a:t>The quick brown fox jumps over the lazy dog.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293116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i="0">
                <a:solidFill>
                  <a:srgbClr val="1A1A1A"/>
                </a:solidFill>
                <a:latin typeface="Georgia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3205480"/>
            <a:ext cx="8595360" cy="49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1">
                <a:solidFill>
                  <a:srgbClr val="999999"/>
                </a:solidFill>
                <a:latin typeface="Calibri"/>
              </a:rPr>
              <a:t>Italic 20pt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" y="3388360"/>
            <a:ext cx="8595360" cy="49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 i="1">
                <a:solidFill>
                  <a:srgbClr val="1A1A1A"/>
                </a:solidFill>
                <a:latin typeface="Georgia"/>
              </a:rPr>
              <a:t>The quick brown fox jumps over the lazy dog.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379476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i="0">
                <a:solidFill>
                  <a:srgbClr val="1A1A1A"/>
                </a:solidFill>
                <a:latin typeface="Georgia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" y="4069080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i="1">
                <a:solidFill>
                  <a:srgbClr val="999999"/>
                </a:solidFill>
                <a:latin typeface="Calibri"/>
              </a:rPr>
              <a:t>Bold Italic 18pt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" y="4251960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1">
                <a:solidFill>
                  <a:srgbClr val="1A1A1A"/>
                </a:solidFill>
                <a:latin typeface="Georgia"/>
              </a:rPr>
              <a:t>The quick brown fox jumps over the lazy dog.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" y="461772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i="0">
                <a:solidFill>
                  <a:srgbClr val="1A1A1A"/>
                </a:solidFill>
                <a:latin typeface="Georgia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" y="489204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999999"/>
                </a:solidFill>
                <a:latin typeface="Calibri"/>
              </a:rPr>
              <a:t>Small 10pt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" y="507492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1A1A1A"/>
                </a:solidFill>
                <a:latin typeface="Georgia"/>
              </a:rPr>
              <a:t>Lorem ipsum dolor sit amet, consectetur adipiscing elit. Sed do eiusmod tempor incididunt ut labore et dolore magna aliqua. Ut enim ad minim veniam, quis nostrud exercitation ullamco laboris.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33399"/>
                </a:solidFill>
                <a:latin typeface="Calibri"/>
              </a:rPr>
              <a:t>Segoe UI — Windows UI font (Selawik)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502920"/>
            <a:ext cx="8595360" cy="57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999999"/>
                </a:solidFill>
                <a:latin typeface="Calibri"/>
              </a:rPr>
              <a:t>Regular 24pt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85800"/>
            <a:ext cx="8595360" cy="57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 i="0">
                <a:solidFill>
                  <a:srgbClr val="1A1A1A"/>
                </a:solidFill>
                <a:latin typeface="Segoe UI"/>
              </a:rPr>
              <a:t>ABCDEFGHIJKLMNOPQRSTUVWXYZ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173480"/>
            <a:ext cx="8595360" cy="57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 i="0">
                <a:solidFill>
                  <a:srgbClr val="1A1A1A"/>
                </a:solidFill>
                <a:latin typeface="Segoe UI"/>
              </a:rPr>
              <a:t>abcdefghijklmnopqrstuvwxyz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661159"/>
            <a:ext cx="8595360" cy="49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 i="0">
                <a:solidFill>
                  <a:srgbClr val="1A1A1A"/>
                </a:solidFill>
                <a:latin typeface="Segoe UI"/>
              </a:rPr>
              <a:t>0123456789 !@#$%^&amp;*()+-=[]{}|;':",./&lt;&gt;?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206756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i="0">
                <a:solidFill>
                  <a:srgbClr val="1A1A1A"/>
                </a:solidFill>
                <a:latin typeface="Segoe UI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2341880"/>
            <a:ext cx="8595360" cy="49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i="0">
                <a:solidFill>
                  <a:srgbClr val="999999"/>
                </a:solidFill>
                <a:latin typeface="Calibri"/>
              </a:rPr>
              <a:t>Bold 20pt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2524760"/>
            <a:ext cx="8595360" cy="49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 i="0">
                <a:solidFill>
                  <a:srgbClr val="1A1A1A"/>
                </a:solidFill>
                <a:latin typeface="Segoe UI"/>
              </a:rPr>
              <a:t>The quick brown fox jumps over the lazy dog.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293116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i="0">
                <a:solidFill>
                  <a:srgbClr val="1A1A1A"/>
                </a:solidFill>
                <a:latin typeface="Segoe U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3205480"/>
            <a:ext cx="8595360" cy="49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1">
                <a:solidFill>
                  <a:srgbClr val="999999"/>
                </a:solidFill>
                <a:latin typeface="Calibri"/>
              </a:rPr>
              <a:t>Italic 20pt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" y="3388360"/>
            <a:ext cx="8595360" cy="49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 i="1">
                <a:solidFill>
                  <a:srgbClr val="1A1A1A"/>
                </a:solidFill>
                <a:latin typeface="Segoe UI"/>
              </a:rPr>
              <a:t>The quick brown fox jumps over the lazy dog.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379476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i="0">
                <a:solidFill>
                  <a:srgbClr val="1A1A1A"/>
                </a:solidFill>
                <a:latin typeface="Segoe UI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" y="4069080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i="1">
                <a:solidFill>
                  <a:srgbClr val="999999"/>
                </a:solidFill>
                <a:latin typeface="Calibri"/>
              </a:rPr>
              <a:t>Bold Italic 18pt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" y="4251960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1">
                <a:solidFill>
                  <a:srgbClr val="1A1A1A"/>
                </a:solidFill>
                <a:latin typeface="Segoe UI"/>
              </a:rPr>
              <a:t>The quick brown fox jumps over the lazy dog.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" y="461772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i="0">
                <a:solidFill>
                  <a:srgbClr val="1A1A1A"/>
                </a:solidFill>
                <a:latin typeface="Segoe UI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" y="489204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999999"/>
                </a:solidFill>
                <a:latin typeface="Calibri"/>
              </a:rPr>
              <a:t>Small 10pt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" y="507492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1A1A1A"/>
                </a:solidFill>
                <a:latin typeface="Segoe UI"/>
              </a:rPr>
              <a:t>Lorem ipsum dolor sit amet, consectetur adipiscing elit. Sed do eiusmod tempor incididunt ut labore et dolore magna aliqua. Ut enim ad minim veniam, quis nostrud exercitation ullamco laboris.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33399"/>
                </a:solidFill>
                <a:latin typeface="Calibri"/>
              </a:rPr>
              <a:t>Roboto — Google's flagship sans-serif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502920"/>
            <a:ext cx="8595360" cy="57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999999"/>
                </a:solidFill>
                <a:latin typeface="Calibri"/>
              </a:rPr>
              <a:t>Regular 24pt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85800"/>
            <a:ext cx="8595360" cy="57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 i="0">
                <a:solidFill>
                  <a:srgbClr val="1A1A1A"/>
                </a:solidFill>
                <a:latin typeface="Roboto"/>
              </a:rPr>
              <a:t>ABCDEFGHIJKLMNOPQRSTUVWXYZ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173480"/>
            <a:ext cx="8595360" cy="57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 i="0">
                <a:solidFill>
                  <a:srgbClr val="1A1A1A"/>
                </a:solidFill>
                <a:latin typeface="Roboto"/>
              </a:rPr>
              <a:t>abcdefghijklmnopqrstuvwxyz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661159"/>
            <a:ext cx="8595360" cy="49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 i="0">
                <a:solidFill>
                  <a:srgbClr val="1A1A1A"/>
                </a:solidFill>
                <a:latin typeface="Roboto"/>
              </a:rPr>
              <a:t>0123456789 !@#$%^&amp;*()+-=[]{}|;':",./&lt;&gt;?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206756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i="0">
                <a:solidFill>
                  <a:srgbClr val="1A1A1A"/>
                </a:solidFill>
                <a:latin typeface="Roboto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2341880"/>
            <a:ext cx="8595360" cy="49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i="0">
                <a:solidFill>
                  <a:srgbClr val="999999"/>
                </a:solidFill>
                <a:latin typeface="Calibri"/>
              </a:rPr>
              <a:t>Bold 20pt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2524760"/>
            <a:ext cx="8595360" cy="49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 i="0">
                <a:solidFill>
                  <a:srgbClr val="1A1A1A"/>
                </a:solidFill>
                <a:latin typeface="Roboto"/>
              </a:rPr>
              <a:t>The quick brown fox jumps over the lazy dog.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293116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i="0">
                <a:solidFill>
                  <a:srgbClr val="1A1A1A"/>
                </a:solidFill>
                <a:latin typeface="Roboto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3205480"/>
            <a:ext cx="8595360" cy="49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1">
                <a:solidFill>
                  <a:srgbClr val="999999"/>
                </a:solidFill>
                <a:latin typeface="Calibri"/>
              </a:rPr>
              <a:t>Italic 20pt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" y="3388360"/>
            <a:ext cx="8595360" cy="49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 i="1">
                <a:solidFill>
                  <a:srgbClr val="1A1A1A"/>
                </a:solidFill>
                <a:latin typeface="Roboto"/>
              </a:rPr>
              <a:t>The quick brown fox jumps over the lazy dog.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379476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i="0">
                <a:solidFill>
                  <a:srgbClr val="1A1A1A"/>
                </a:solidFill>
                <a:latin typeface="Roboto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" y="4069080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i="1">
                <a:solidFill>
                  <a:srgbClr val="999999"/>
                </a:solidFill>
                <a:latin typeface="Calibri"/>
              </a:rPr>
              <a:t>Bold Italic 18pt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" y="4251960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1">
                <a:solidFill>
                  <a:srgbClr val="1A1A1A"/>
                </a:solidFill>
                <a:latin typeface="Roboto"/>
              </a:rPr>
              <a:t>The quick brown fox jumps over the lazy dog.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" y="461772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i="0">
                <a:solidFill>
                  <a:srgbClr val="1A1A1A"/>
                </a:solidFill>
                <a:latin typeface="Roboto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" y="489204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999999"/>
                </a:solidFill>
                <a:latin typeface="Calibri"/>
              </a:rPr>
              <a:t>Small 10pt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" y="507492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1A1A1A"/>
                </a:solidFill>
                <a:latin typeface="Roboto"/>
              </a:rPr>
              <a:t>Lorem ipsum dolor sit amet, consectetur adipiscing elit. Sed do eiusmod tempor incididunt ut labore et dolore magna aliqua. Ut enim ad minim veniam, quis nostrud exercitation ullamco laboris.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33399"/>
                </a:solidFill>
                <a:latin typeface="Calibri"/>
              </a:rPr>
              <a:t>Montserrat — Geometric display sans-serif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502920"/>
            <a:ext cx="8595360" cy="57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999999"/>
                </a:solidFill>
                <a:latin typeface="Calibri"/>
              </a:rPr>
              <a:t>Regular 24pt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85800"/>
            <a:ext cx="8595360" cy="57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 i="0">
                <a:solidFill>
                  <a:srgbClr val="1A1A1A"/>
                </a:solidFill>
                <a:latin typeface="Montserrat"/>
              </a:rPr>
              <a:t>ABCDEFGHIJKLMNOPQRSTUVWXYZ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173480"/>
            <a:ext cx="8595360" cy="57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 i="0">
                <a:solidFill>
                  <a:srgbClr val="1A1A1A"/>
                </a:solidFill>
                <a:latin typeface="Montserrat"/>
              </a:rPr>
              <a:t>abcdefghijklmnopqrstuvwxyz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661159"/>
            <a:ext cx="8595360" cy="49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 i="0">
                <a:solidFill>
                  <a:srgbClr val="1A1A1A"/>
                </a:solidFill>
                <a:latin typeface="Montserrat"/>
              </a:rPr>
              <a:t>0123456789 !@#$%^&amp;*()+-=[]{}|;':",./&lt;&gt;?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206756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i="0">
                <a:solidFill>
                  <a:srgbClr val="1A1A1A"/>
                </a:solidFill>
                <a:latin typeface="Montserrat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2341880"/>
            <a:ext cx="8595360" cy="49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i="0">
                <a:solidFill>
                  <a:srgbClr val="999999"/>
                </a:solidFill>
                <a:latin typeface="Calibri"/>
              </a:rPr>
              <a:t>Bold 20pt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2524760"/>
            <a:ext cx="8595360" cy="49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 i="0">
                <a:solidFill>
                  <a:srgbClr val="1A1A1A"/>
                </a:solidFill>
                <a:latin typeface="Montserrat"/>
              </a:rPr>
              <a:t>The quick brown fox jumps over the lazy dog.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293116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i="0">
                <a:solidFill>
                  <a:srgbClr val="1A1A1A"/>
                </a:solidFill>
                <a:latin typeface="Montserrat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3205480"/>
            <a:ext cx="8595360" cy="49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1">
                <a:solidFill>
                  <a:srgbClr val="999999"/>
                </a:solidFill>
                <a:latin typeface="Calibri"/>
              </a:rPr>
              <a:t>Italic 20pt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" y="3388360"/>
            <a:ext cx="8595360" cy="49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 i="1">
                <a:solidFill>
                  <a:srgbClr val="1A1A1A"/>
                </a:solidFill>
                <a:latin typeface="Montserrat"/>
              </a:rPr>
              <a:t>The quick brown fox jumps over the lazy dog.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379476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i="0">
                <a:solidFill>
                  <a:srgbClr val="1A1A1A"/>
                </a:solidFill>
                <a:latin typeface="Montserrat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" y="4069080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i="1">
                <a:solidFill>
                  <a:srgbClr val="999999"/>
                </a:solidFill>
                <a:latin typeface="Calibri"/>
              </a:rPr>
              <a:t>Bold Italic 18pt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" y="4251960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1">
                <a:solidFill>
                  <a:srgbClr val="1A1A1A"/>
                </a:solidFill>
                <a:latin typeface="Montserrat"/>
              </a:rPr>
              <a:t>The quick brown fox jumps over the lazy dog.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" y="461772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i="0">
                <a:solidFill>
                  <a:srgbClr val="1A1A1A"/>
                </a:solidFill>
                <a:latin typeface="Montserrat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" y="489204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999999"/>
                </a:solidFill>
                <a:latin typeface="Calibri"/>
              </a:rPr>
              <a:t>Small 10pt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" y="507492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1A1A1A"/>
                </a:solidFill>
                <a:latin typeface="Montserrat"/>
              </a:rPr>
              <a:t>Lorem ipsum dolor sit amet, consectetur adipiscing elit. Sed do eiusmod tempor incididunt ut labore et dolore magna aliqua. Ut enim ad minim veniam, quis nostrud exercitation ullamco laboris.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33399"/>
                </a:solidFill>
                <a:latin typeface="Calibri"/>
              </a:rPr>
              <a:t>Playfair Display — High-contrast serif display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502920"/>
            <a:ext cx="8595360" cy="57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999999"/>
                </a:solidFill>
                <a:latin typeface="Calibri"/>
              </a:rPr>
              <a:t>Regular 24pt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85800"/>
            <a:ext cx="8595360" cy="57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 i="0">
                <a:solidFill>
                  <a:srgbClr val="1A1A1A"/>
                </a:solidFill>
                <a:latin typeface="Playfair Display"/>
              </a:rPr>
              <a:t>ABCDEFGHIJKLMNOPQRSTUVWXYZ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173480"/>
            <a:ext cx="8595360" cy="57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 i="0">
                <a:solidFill>
                  <a:srgbClr val="1A1A1A"/>
                </a:solidFill>
                <a:latin typeface="Playfair Display"/>
              </a:rPr>
              <a:t>abcdefghijklmnopqrstuvwxyz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661159"/>
            <a:ext cx="8595360" cy="49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 i="0">
                <a:solidFill>
                  <a:srgbClr val="1A1A1A"/>
                </a:solidFill>
                <a:latin typeface="Playfair Display"/>
              </a:rPr>
              <a:t>0123456789 !@#$%^&amp;*()+-=[]{}|;':",./&lt;&gt;?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206756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i="0">
                <a:solidFill>
                  <a:srgbClr val="1A1A1A"/>
                </a:solidFill>
                <a:latin typeface="Playfair Display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2341880"/>
            <a:ext cx="8595360" cy="49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i="0">
                <a:solidFill>
                  <a:srgbClr val="999999"/>
                </a:solidFill>
                <a:latin typeface="Calibri"/>
              </a:rPr>
              <a:t>Bold 20pt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2524760"/>
            <a:ext cx="8595360" cy="49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 i="0">
                <a:solidFill>
                  <a:srgbClr val="1A1A1A"/>
                </a:solidFill>
                <a:latin typeface="Playfair Display"/>
              </a:rPr>
              <a:t>The quick brown fox jumps over the lazy dog.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293116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i="0">
                <a:solidFill>
                  <a:srgbClr val="1A1A1A"/>
                </a:solidFill>
                <a:latin typeface="Playfair Display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3205480"/>
            <a:ext cx="8595360" cy="49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1">
                <a:solidFill>
                  <a:srgbClr val="999999"/>
                </a:solidFill>
                <a:latin typeface="Calibri"/>
              </a:rPr>
              <a:t>Italic 20pt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" y="3388360"/>
            <a:ext cx="8595360" cy="49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 i="1">
                <a:solidFill>
                  <a:srgbClr val="1A1A1A"/>
                </a:solidFill>
                <a:latin typeface="Playfair Display"/>
              </a:rPr>
              <a:t>The quick brown fox jumps over the lazy dog.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379476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i="0">
                <a:solidFill>
                  <a:srgbClr val="1A1A1A"/>
                </a:solidFill>
                <a:latin typeface="Playfair Display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" y="4069080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i="1">
                <a:solidFill>
                  <a:srgbClr val="999999"/>
                </a:solidFill>
                <a:latin typeface="Calibri"/>
              </a:rPr>
              <a:t>Bold Italic 18pt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" y="4251960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1">
                <a:solidFill>
                  <a:srgbClr val="1A1A1A"/>
                </a:solidFill>
                <a:latin typeface="Playfair Display"/>
              </a:rPr>
              <a:t>The quick brown fox jumps over the lazy dog.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" y="461772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i="0">
                <a:solidFill>
                  <a:srgbClr val="1A1A1A"/>
                </a:solidFill>
                <a:latin typeface="Playfair Display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" y="489204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999999"/>
                </a:solidFill>
                <a:latin typeface="Calibri"/>
              </a:rPr>
              <a:t>Small 10pt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" y="507492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1A1A1A"/>
                </a:solidFill>
                <a:latin typeface="Playfair Display"/>
              </a:rPr>
              <a:t>Lorem ipsum dolor sit amet, consectetur adipiscing elit. Sed do eiusmod tempor incididunt ut labore et dolore magna aliqua. Ut enim ad minim veniam, quis nostrud exercitation ullamco laboris.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33399"/>
                </a:solidFill>
                <a:latin typeface="Calibri"/>
              </a:rPr>
              <a:t>Fira Code — Programming ligature monospace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502920"/>
            <a:ext cx="8595360" cy="57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999999"/>
                </a:solidFill>
                <a:latin typeface="Calibri"/>
              </a:rPr>
              <a:t>Regular 24pt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85800"/>
            <a:ext cx="8595360" cy="57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 i="0">
                <a:solidFill>
                  <a:srgbClr val="1A1A1A"/>
                </a:solidFill>
                <a:latin typeface="Fira Code"/>
              </a:rPr>
              <a:t>ABCDEFGHIJKLMNOPQRSTUVWXYZ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173480"/>
            <a:ext cx="8595360" cy="57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 i="0">
                <a:solidFill>
                  <a:srgbClr val="1A1A1A"/>
                </a:solidFill>
                <a:latin typeface="Fira Code"/>
              </a:rPr>
              <a:t>abcdefghijklmnopqrstuvwxyz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661159"/>
            <a:ext cx="8595360" cy="49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 i="0">
                <a:solidFill>
                  <a:srgbClr val="1A1A1A"/>
                </a:solidFill>
                <a:latin typeface="Fira Code"/>
              </a:rPr>
              <a:t>0123456789 !@#$%^&amp;*()+-=[]{}|;':",./&lt;&gt;?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206756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i="0">
                <a:solidFill>
                  <a:srgbClr val="1A1A1A"/>
                </a:solidFill>
                <a:latin typeface="Fira Code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2341880"/>
            <a:ext cx="8595360" cy="49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i="0">
                <a:solidFill>
                  <a:srgbClr val="999999"/>
                </a:solidFill>
                <a:latin typeface="Calibri"/>
              </a:rPr>
              <a:t>Bold 20pt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2524760"/>
            <a:ext cx="8595360" cy="49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 i="0">
                <a:solidFill>
                  <a:srgbClr val="1A1A1A"/>
                </a:solidFill>
                <a:latin typeface="Fira Code"/>
              </a:rPr>
              <a:t>The quick brown fox jumps over the lazy dog.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293116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i="0">
                <a:solidFill>
                  <a:srgbClr val="1A1A1A"/>
                </a:solidFill>
                <a:latin typeface="Fira Code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3205480"/>
            <a:ext cx="8595360" cy="49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1">
                <a:solidFill>
                  <a:srgbClr val="999999"/>
                </a:solidFill>
                <a:latin typeface="Calibri"/>
              </a:rPr>
              <a:t>Italic 20pt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" y="3388360"/>
            <a:ext cx="8595360" cy="49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 i="1">
                <a:solidFill>
                  <a:srgbClr val="1A1A1A"/>
                </a:solidFill>
                <a:latin typeface="Fira Code"/>
              </a:rPr>
              <a:t>The quick brown fox jumps over the lazy dog.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379476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i="0">
                <a:solidFill>
                  <a:srgbClr val="1A1A1A"/>
                </a:solidFill>
                <a:latin typeface="Fira Code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" y="4069080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i="1">
                <a:solidFill>
                  <a:srgbClr val="999999"/>
                </a:solidFill>
                <a:latin typeface="Calibri"/>
              </a:rPr>
              <a:t>Bold Italic 18pt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" y="4251960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1">
                <a:solidFill>
                  <a:srgbClr val="1A1A1A"/>
                </a:solidFill>
                <a:latin typeface="Fira Code"/>
              </a:rPr>
              <a:t>The quick brown fox jumps over the lazy dog.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" y="461772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i="0">
                <a:solidFill>
                  <a:srgbClr val="1A1A1A"/>
                </a:solidFill>
                <a:latin typeface="Fira Code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" y="489204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999999"/>
                </a:solidFill>
                <a:latin typeface="Calibri"/>
              </a:rPr>
              <a:t>Small 10pt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" y="507492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1A1A1A"/>
                </a:solidFill>
                <a:latin typeface="Fira Code"/>
              </a:rPr>
              <a:t>Lorem ipsum dolor sit amet, consectetur adipiscing elit. Sed do eiusmod tempor incididunt ut labore et dolore magna aliqua. Ut enim ad minim veniam, quis nostrud exercitation ullamco laboris.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33399"/>
                </a:solidFill>
                <a:latin typeface="Calibri"/>
              </a:rPr>
              <a:t>Noto Sans Symbols — Unicode symbols &amp; arrows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502920"/>
            <a:ext cx="8595360" cy="57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999999"/>
                </a:solidFill>
                <a:latin typeface="Calibri"/>
              </a:rPr>
              <a:t>Regular 24pt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85800"/>
            <a:ext cx="8595360" cy="57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 i="0">
                <a:solidFill>
                  <a:srgbClr val="1A1A1A"/>
                </a:solidFill>
                <a:latin typeface="Noto Sans Symbols"/>
              </a:rPr>
              <a:t>ABCDEFGHIJKLMNOPQRSTUVWXYZ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173480"/>
            <a:ext cx="8595360" cy="57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 i="0">
                <a:solidFill>
                  <a:srgbClr val="1A1A1A"/>
                </a:solidFill>
                <a:latin typeface="Noto Sans Symbols"/>
              </a:rPr>
              <a:t>abcdefghijklmnopqrstuvwxyz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661159"/>
            <a:ext cx="8595360" cy="49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 i="0">
                <a:solidFill>
                  <a:srgbClr val="1A1A1A"/>
                </a:solidFill>
                <a:latin typeface="Noto Sans Symbols"/>
              </a:rPr>
              <a:t>0123456789 !@#$%^&amp;*()+-=[]{}|;':",./&lt;&gt;?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206756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i="0">
                <a:solidFill>
                  <a:srgbClr val="1A1A1A"/>
                </a:solidFill>
                <a:latin typeface="Noto Sans Symbols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2341880"/>
            <a:ext cx="8595360" cy="49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i="0">
                <a:solidFill>
                  <a:srgbClr val="999999"/>
                </a:solidFill>
                <a:latin typeface="Calibri"/>
              </a:rPr>
              <a:t>Bold 20pt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2524760"/>
            <a:ext cx="8595360" cy="49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 i="0">
                <a:solidFill>
                  <a:srgbClr val="1A1A1A"/>
                </a:solidFill>
                <a:latin typeface="Noto Sans Symbols"/>
              </a:rPr>
              <a:t>The quick brown fox jumps over the lazy dog.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293116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i="0">
                <a:solidFill>
                  <a:srgbClr val="1A1A1A"/>
                </a:solidFill>
                <a:latin typeface="Noto Sans Symbols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3205480"/>
            <a:ext cx="8595360" cy="49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1">
                <a:solidFill>
                  <a:srgbClr val="999999"/>
                </a:solidFill>
                <a:latin typeface="Calibri"/>
              </a:rPr>
              <a:t>Italic 20pt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" y="3388360"/>
            <a:ext cx="8595360" cy="49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 i="1">
                <a:solidFill>
                  <a:srgbClr val="1A1A1A"/>
                </a:solidFill>
                <a:latin typeface="Noto Sans Symbols"/>
              </a:rPr>
              <a:t>The quick brown fox jumps over the lazy dog.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379476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i="0">
                <a:solidFill>
                  <a:srgbClr val="1A1A1A"/>
                </a:solidFill>
                <a:latin typeface="Noto Sans Symbols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" y="4069080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i="1">
                <a:solidFill>
                  <a:srgbClr val="999999"/>
                </a:solidFill>
                <a:latin typeface="Calibri"/>
              </a:rPr>
              <a:t>Bold Italic 18pt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" y="4251960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1">
                <a:solidFill>
                  <a:srgbClr val="1A1A1A"/>
                </a:solidFill>
                <a:latin typeface="Noto Sans Symbols"/>
              </a:rPr>
              <a:t>The quick brown fox jumps over the lazy dog.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" y="461772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i="0">
                <a:solidFill>
                  <a:srgbClr val="1A1A1A"/>
                </a:solidFill>
                <a:latin typeface="Noto Sans Symbols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" y="489204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999999"/>
                </a:solidFill>
                <a:latin typeface="Calibri"/>
              </a:rPr>
              <a:t>Small 10pt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" y="507492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1A1A1A"/>
                </a:solidFill>
                <a:latin typeface="Noto Sans Symbols"/>
              </a:rPr>
              <a:t>Lorem ipsum dolor sit amet, consectetur adipiscing elit. Sed do eiusmod tempor incididunt ut labore et dolore magna aliqua. Ut enim ad minim veniam, quis nostrud exercitation ullamco laboris.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