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1A2E"/>
                </a:solidFill>
                <a:latin typeface="Calibri"/>
              </a:rPr>
              <a:t>OpenDocKit Font Stress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666666"/>
                </a:solidFill>
                <a:latin typeface="Calibri"/>
              </a:rPr>
              <a:t>42 bundled font families • 130 faces • 5.0 MB WOFF2 • 100% offline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3399"/>
                </a:solidFill>
                <a:latin typeface="Calibri"/>
              </a:rPr>
              <a:t>Office Core Font Substitutes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Calibri (Carlito substitute): </a:t>
            </a:r>
            <a:r>
              <a:rPr sz="1400">
                <a:solidFill>
                  <a:srgbClr val="1A1A1A"/>
                </a:solidFill>
                <a:latin typeface="Calibri"/>
              </a:rPr>
              <a:t>AaBbCcDdEeFfGg 0123456789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32688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Calibri"/>
              </a:rPr>
              <a:t>Bold </a:t>
            </a:r>
            <a:r>
              <a:rPr sz="1200" i="1">
                <a:solidFill>
                  <a:srgbClr val="333333"/>
                </a:solidFill>
                <a:latin typeface="Calibri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Calibri"/>
              </a:rPr>
              <a:t>Bold Italic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89888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Calibri Light (Carlito Light substitute): </a:t>
            </a:r>
            <a:r>
              <a:rPr sz="1400">
                <a:solidFill>
                  <a:srgbClr val="1A1A1A"/>
                </a:solidFill>
                <a:latin typeface="Calibri Light"/>
              </a:rPr>
              <a:t>AaBbCcDdEeFfGg 0123456789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73936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Calibri Light"/>
              </a:rPr>
              <a:t>Bold </a:t>
            </a:r>
            <a:r>
              <a:rPr sz="1200" i="1">
                <a:solidFill>
                  <a:srgbClr val="333333"/>
                </a:solidFill>
                <a:latin typeface="Calibri Light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Calibri Light"/>
              </a:rPr>
              <a:t>Bold Italic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31136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Cambria (Caladea substitute): </a:t>
            </a:r>
            <a:r>
              <a:rPr sz="1400">
                <a:solidFill>
                  <a:srgbClr val="1A1A1A"/>
                </a:solidFill>
                <a:latin typeface="Cambria"/>
              </a:rPr>
              <a:t>AaBbCcDdEeFfGg 0123456789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615184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Cambria"/>
              </a:rPr>
              <a:t>Bold </a:t>
            </a:r>
            <a:r>
              <a:rPr sz="1200" i="1">
                <a:solidFill>
                  <a:srgbClr val="333333"/>
                </a:solidFill>
                <a:latin typeface="Cambria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Cambria"/>
              </a:rPr>
              <a:t>Bold Italic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072384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Arial (Liberation Sans substitute): </a:t>
            </a:r>
            <a:r>
              <a:rPr sz="1400">
                <a:solidFill>
                  <a:srgbClr val="1A1A1A"/>
                </a:solidFill>
                <a:latin typeface="Arial"/>
              </a:rPr>
              <a:t>AaBbCcDdEeFfGg 0123456789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56432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Bold </a:t>
            </a:r>
            <a:r>
              <a:rPr sz="1200" i="1">
                <a:solidFill>
                  <a:srgbClr val="333333"/>
                </a:solidFill>
                <a:latin typeface="Arial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Arial"/>
              </a:rPr>
              <a:t>Bold Italic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13631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Arial Narrow (Liberation Sans Narrow substitute): </a:t>
            </a:r>
            <a:r>
              <a:rPr sz="1400">
                <a:solidFill>
                  <a:srgbClr val="1A1A1A"/>
                </a:solidFill>
                <a:latin typeface="Arial Narrow"/>
              </a:rPr>
              <a:t>AaBbCcDdEeFfGg 0123456789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97679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 Narrow"/>
              </a:rPr>
              <a:t>Bold </a:t>
            </a:r>
            <a:r>
              <a:rPr sz="1200" i="1">
                <a:solidFill>
                  <a:srgbClr val="333333"/>
                </a:solidFill>
                <a:latin typeface="Arial Narrow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Arial Narrow"/>
              </a:rPr>
              <a:t>Bold Italic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754879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Times New Roman (Liberation Serif substitute): </a:t>
            </a:r>
            <a:r>
              <a:rPr sz="1400">
                <a:solidFill>
                  <a:srgbClr val="1A1A1A"/>
                </a:solidFill>
                <a:latin typeface="Times New Roman"/>
              </a:rPr>
              <a:t>AaBbCcDdEeFfGg 0123456789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138927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Times New Roman"/>
              </a:rPr>
              <a:t>Bold </a:t>
            </a:r>
            <a:r>
              <a:rPr sz="1200" i="1">
                <a:solidFill>
                  <a:srgbClr val="333333"/>
                </a:solidFill>
                <a:latin typeface="Times New Roman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Times New Roman"/>
              </a:rPr>
              <a:t>Bold Italic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5596127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Courier New (Liberation Mono substitute): </a:t>
            </a:r>
            <a:r>
              <a:rPr sz="1400">
                <a:solidFill>
                  <a:srgbClr val="1A1A1A"/>
                </a:solidFill>
                <a:latin typeface="Courier New"/>
              </a:rPr>
              <a:t>AaBbCcDdEeFfGg 0123456789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980175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Courier New"/>
              </a:rPr>
              <a:t>Bold </a:t>
            </a:r>
            <a:r>
              <a:rPr sz="1200" i="1">
                <a:solidFill>
                  <a:srgbClr val="333333"/>
                </a:solidFill>
                <a:latin typeface="Courier New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Courier New"/>
              </a:rPr>
              <a:t>Bold Italic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3399"/>
                </a:solidFill>
                <a:latin typeface="Calibri"/>
              </a:rPr>
              <a:t>Office Core Font Substitutes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Segoe UI Light (Selawik Light substitute): </a:t>
            </a:r>
            <a:r>
              <a:rPr sz="1400">
                <a:solidFill>
                  <a:srgbClr val="1A1A1A"/>
                </a:solidFill>
                <a:latin typeface="Segoe UI Light"/>
              </a:rPr>
              <a:t>AaBbCcDdEeFfGg 0123456789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32688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Segoe UI Light"/>
              </a:rPr>
              <a:t>Bold </a:t>
            </a:r>
            <a:r>
              <a:rPr sz="1200" i="1">
                <a:solidFill>
                  <a:srgbClr val="333333"/>
                </a:solidFill>
                <a:latin typeface="Segoe UI Light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Segoe UI Light"/>
              </a:rPr>
              <a:t>Bold Italic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89888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Segoe UI Semibold (Selawik Semibold substitute): </a:t>
            </a:r>
            <a:r>
              <a:rPr sz="1400">
                <a:solidFill>
                  <a:srgbClr val="1A1A1A"/>
                </a:solidFill>
                <a:latin typeface="Segoe UI Semibold"/>
              </a:rPr>
              <a:t>AaBbCcDdEeFfGg 0123456789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73936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Segoe UI Semibold"/>
              </a:rPr>
              <a:t>Bold </a:t>
            </a:r>
            <a:r>
              <a:rPr sz="1200" i="1">
                <a:solidFill>
                  <a:srgbClr val="333333"/>
                </a:solidFill>
                <a:latin typeface="Segoe UI Semibold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Segoe UI Semibold"/>
              </a:rPr>
              <a:t>Bold Italic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31136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Segoe UI Semilight (Selawik Semilight substitute): </a:t>
            </a:r>
            <a:r>
              <a:rPr sz="1400">
                <a:solidFill>
                  <a:srgbClr val="1A1A1A"/>
                </a:solidFill>
                <a:latin typeface="Segoe UI Semilight"/>
              </a:rPr>
              <a:t>AaBbCcDdEeFfGg 0123456789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615184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Segoe UI Semilight"/>
              </a:rPr>
              <a:t>Bold </a:t>
            </a:r>
            <a:r>
              <a:rPr sz="1200" i="1">
                <a:solidFill>
                  <a:srgbClr val="333333"/>
                </a:solidFill>
                <a:latin typeface="Segoe UI Semilight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Segoe UI Semilight"/>
              </a:rPr>
              <a:t>Bold Italic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072384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Georgia (Gelasio substitute): </a:t>
            </a:r>
            <a:r>
              <a:rPr sz="1400">
                <a:solidFill>
                  <a:srgbClr val="1A1A1A"/>
                </a:solidFill>
                <a:latin typeface="Georgia"/>
              </a:rPr>
              <a:t>AaBbCcDdEeFfGg 0123456789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56432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Georgia"/>
              </a:rPr>
              <a:t>Bold </a:t>
            </a:r>
            <a:r>
              <a:rPr sz="1200" i="1">
                <a:solidFill>
                  <a:srgbClr val="333333"/>
                </a:solidFill>
                <a:latin typeface="Georgia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Georgia"/>
              </a:rPr>
              <a:t>Bold Italic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13631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Palatino Linotype (TeX Gyre Pagella substitute): </a:t>
            </a:r>
            <a:r>
              <a:rPr sz="1400">
                <a:solidFill>
                  <a:srgbClr val="1A1A1A"/>
                </a:solidFill>
                <a:latin typeface="Palatino Linotype"/>
              </a:rPr>
              <a:t>AaBbCcDdEeFfGg 0123456789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97679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Palatino Linotype"/>
              </a:rPr>
              <a:t>Bold </a:t>
            </a:r>
            <a:r>
              <a:rPr sz="1200" i="1">
                <a:solidFill>
                  <a:srgbClr val="333333"/>
                </a:solidFill>
                <a:latin typeface="Palatino Linotype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Palatino Linotype"/>
              </a:rPr>
              <a:t>Bold Italic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754879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Bookman Old Style (TeX Gyre Bonum substitute): </a:t>
            </a:r>
            <a:r>
              <a:rPr sz="1400">
                <a:solidFill>
                  <a:srgbClr val="1A1A1A"/>
                </a:solidFill>
                <a:latin typeface="Bookman Old Style"/>
              </a:rPr>
              <a:t>AaBbCcDdEeFfGg 0123456789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138927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Bookman Old Style"/>
              </a:rPr>
              <a:t>Bold </a:t>
            </a:r>
            <a:r>
              <a:rPr sz="1200" i="1">
                <a:solidFill>
                  <a:srgbClr val="333333"/>
                </a:solidFill>
                <a:latin typeface="Bookman Old Style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Bookman Old Style"/>
              </a:rPr>
              <a:t>Bold Italic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5596127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Century Schoolbook (TeX Gyre Schola substitute): </a:t>
            </a:r>
            <a:r>
              <a:rPr sz="1400">
                <a:solidFill>
                  <a:srgbClr val="1A1A1A"/>
                </a:solidFill>
                <a:latin typeface="Century Schoolbook"/>
              </a:rPr>
              <a:t>AaBbCcDdEeFfGg 0123456789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980175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Century Schoolbook"/>
              </a:rPr>
              <a:t>Bold </a:t>
            </a:r>
            <a:r>
              <a:rPr sz="1200" i="1">
                <a:solidFill>
                  <a:srgbClr val="333333"/>
                </a:solidFill>
                <a:latin typeface="Century Schoolbook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Century Schoolbook"/>
              </a:rPr>
              <a:t>Bold Italic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3399"/>
                </a:solidFill>
                <a:latin typeface="Calibri"/>
              </a:rPr>
              <a:t>Google Fonts — Sans-Serif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Arimo (sans-serif): </a:t>
            </a:r>
            <a:r>
              <a:rPr sz="1400">
                <a:solidFill>
                  <a:srgbClr val="1A1A1A"/>
                </a:solidFill>
                <a:latin typeface="Arimo"/>
              </a:rPr>
              <a:t>AaBbCcDdEeFfGg 0123456789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32688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mo"/>
              </a:rPr>
              <a:t>Bold </a:t>
            </a:r>
            <a:r>
              <a:rPr sz="1200" i="1">
                <a:solidFill>
                  <a:srgbClr val="333333"/>
                </a:solidFill>
                <a:latin typeface="Arimo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Arimo"/>
              </a:rPr>
              <a:t>Bold Italic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89888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Barlow (sans-serif): </a:t>
            </a:r>
            <a:r>
              <a:rPr sz="1400">
                <a:solidFill>
                  <a:srgbClr val="1A1A1A"/>
                </a:solidFill>
                <a:latin typeface="Barlow"/>
              </a:rPr>
              <a:t>AaBbCcDdEeFfGg 0123456789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73936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Barlow"/>
              </a:rPr>
              <a:t>Bold </a:t>
            </a:r>
            <a:r>
              <a:rPr sz="1200" i="1">
                <a:solidFill>
                  <a:srgbClr val="333333"/>
                </a:solidFill>
                <a:latin typeface="Barlow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Barlow"/>
              </a:rPr>
              <a:t>Bold Italic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31136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Barlow Light (sans-serif, light weight): </a:t>
            </a:r>
            <a:r>
              <a:rPr sz="1400">
                <a:solidFill>
                  <a:srgbClr val="1A1A1A"/>
                </a:solidFill>
                <a:latin typeface="Barlow Light"/>
              </a:rPr>
              <a:t>AaBbCcDdEeFfGg 0123456789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615184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Barlow Light"/>
              </a:rPr>
              <a:t>Bold </a:t>
            </a:r>
            <a:r>
              <a:rPr sz="1200" i="1">
                <a:solidFill>
                  <a:srgbClr val="333333"/>
                </a:solidFill>
                <a:latin typeface="Barlow Light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Barlow Light"/>
              </a:rPr>
              <a:t>Bold Italic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072384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Comfortaa (rounded sans-serif): </a:t>
            </a:r>
            <a:r>
              <a:rPr sz="1400">
                <a:solidFill>
                  <a:srgbClr val="1A1A1A"/>
                </a:solidFill>
                <a:latin typeface="Comfortaa"/>
              </a:rPr>
              <a:t>AaBbCcDdEeFfGg 0123456789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56432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Comfortaa"/>
              </a:rPr>
              <a:t>Bold </a:t>
            </a:r>
            <a:r>
              <a:rPr sz="1200" i="1">
                <a:solidFill>
                  <a:srgbClr val="333333"/>
                </a:solidFill>
                <a:latin typeface="Comfortaa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Comfortaa"/>
              </a:rPr>
              <a:t>Bold Italic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13631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Lato (sans-serif): </a:t>
            </a:r>
            <a:r>
              <a:rPr sz="1400">
                <a:solidFill>
                  <a:srgbClr val="1A1A1A"/>
                </a:solidFill>
                <a:latin typeface="Lato"/>
              </a:rPr>
              <a:t>AaBbCcDdEeFfGg 0123456789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97679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Lato"/>
              </a:rPr>
              <a:t>Bold </a:t>
            </a:r>
            <a:r>
              <a:rPr sz="1200" i="1">
                <a:solidFill>
                  <a:srgbClr val="333333"/>
                </a:solidFill>
                <a:latin typeface="Lato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Lato"/>
              </a:rPr>
              <a:t>Bold Italic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754879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Lato Light (sans-serif, light weight): </a:t>
            </a:r>
            <a:r>
              <a:rPr sz="1400">
                <a:solidFill>
                  <a:srgbClr val="1A1A1A"/>
                </a:solidFill>
                <a:latin typeface="Lato Light"/>
              </a:rPr>
              <a:t>AaBbCcDdEeFfGg 0123456789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138927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Lato Light"/>
              </a:rPr>
              <a:t>Bold </a:t>
            </a:r>
            <a:r>
              <a:rPr sz="1200" i="1">
                <a:solidFill>
                  <a:srgbClr val="333333"/>
                </a:solidFill>
                <a:latin typeface="Lato Light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Lato Light"/>
              </a:rPr>
              <a:t>Bold Italic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5596127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Montserrat (geometric sans-serif): </a:t>
            </a:r>
            <a:r>
              <a:rPr sz="1400">
                <a:solidFill>
                  <a:srgbClr val="1A1A1A"/>
                </a:solidFill>
                <a:latin typeface="Montserrat"/>
              </a:rPr>
              <a:t>AaBbCcDdEeFfGg 0123456789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980175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Montserrat"/>
              </a:rPr>
              <a:t>Bold </a:t>
            </a:r>
            <a:r>
              <a:rPr sz="1200" i="1">
                <a:solidFill>
                  <a:srgbClr val="333333"/>
                </a:solidFill>
                <a:latin typeface="Montserrat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Montserrat"/>
              </a:rPr>
              <a:t>Bold Italic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3399"/>
                </a:solidFill>
                <a:latin typeface="Calibri"/>
              </a:rPr>
              <a:t>Google Fonts — Sans-Serif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Open Sans (humanist sans-serif): </a:t>
            </a:r>
            <a:r>
              <a:rPr sz="1400">
                <a:solidFill>
                  <a:srgbClr val="1A1A1A"/>
                </a:solidFill>
                <a:latin typeface="Open Sans"/>
              </a:rPr>
              <a:t>AaBbCcDdEeFfGg 0123456789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32688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Open Sans"/>
              </a:rPr>
              <a:t>Bold </a:t>
            </a:r>
            <a:r>
              <a:rPr sz="1200" i="1">
                <a:solidFill>
                  <a:srgbClr val="333333"/>
                </a:solidFill>
                <a:latin typeface="Open Sans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Open Sans"/>
              </a:rPr>
              <a:t>Bold Italic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89888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Oswald (narrow sans-serif): </a:t>
            </a:r>
            <a:r>
              <a:rPr sz="1400">
                <a:solidFill>
                  <a:srgbClr val="1A1A1A"/>
                </a:solidFill>
                <a:latin typeface="Oswald"/>
              </a:rPr>
              <a:t>AaBbCcDdEeFfGg 0123456789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73936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Oswald"/>
              </a:rPr>
              <a:t>Bold </a:t>
            </a:r>
            <a:r>
              <a:rPr sz="1200" i="1">
                <a:solidFill>
                  <a:srgbClr val="333333"/>
                </a:solidFill>
                <a:latin typeface="Oswald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Oswald"/>
              </a:rPr>
              <a:t>Bold Italic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31136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Poppins (geometric sans-serif): </a:t>
            </a:r>
            <a:r>
              <a:rPr sz="1400">
                <a:solidFill>
                  <a:srgbClr val="1A1A1A"/>
                </a:solidFill>
                <a:latin typeface="Poppins"/>
              </a:rPr>
              <a:t>AaBbCcDdEeFfGg 0123456789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615184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Poppins"/>
              </a:rPr>
              <a:t>Bold </a:t>
            </a:r>
            <a:r>
              <a:rPr sz="1200" i="1">
                <a:solidFill>
                  <a:srgbClr val="333333"/>
                </a:solidFill>
                <a:latin typeface="Poppins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Poppins"/>
              </a:rPr>
              <a:t>Bold Italic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072384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Raleway (elegant sans-serif): </a:t>
            </a:r>
            <a:r>
              <a:rPr sz="1400">
                <a:solidFill>
                  <a:srgbClr val="1A1A1A"/>
                </a:solidFill>
                <a:latin typeface="Raleway"/>
              </a:rPr>
              <a:t>AaBbCcDdEeFfGg 0123456789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56432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Raleway"/>
              </a:rPr>
              <a:t>Bold </a:t>
            </a:r>
            <a:r>
              <a:rPr sz="1200" i="1">
                <a:solidFill>
                  <a:srgbClr val="333333"/>
                </a:solidFill>
                <a:latin typeface="Raleway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Raleway"/>
              </a:rPr>
              <a:t>Bold Italic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13631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Roboto (neo-grotesque sans-serif): </a:t>
            </a:r>
            <a:r>
              <a:rPr sz="1400">
                <a:solidFill>
                  <a:srgbClr val="1A1A1A"/>
                </a:solidFill>
                <a:latin typeface="Roboto"/>
              </a:rPr>
              <a:t>AaBbCcDdEeFfGg 0123456789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97679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Roboto"/>
              </a:rPr>
              <a:t>Bold </a:t>
            </a:r>
            <a:r>
              <a:rPr sz="1200" i="1">
                <a:solidFill>
                  <a:srgbClr val="333333"/>
                </a:solidFill>
                <a:latin typeface="Roboto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Roboto"/>
              </a:rPr>
              <a:t>Bold Italic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754879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Source Sans Pro (sans-serif): </a:t>
            </a:r>
            <a:r>
              <a:rPr sz="1400">
                <a:solidFill>
                  <a:srgbClr val="1A1A1A"/>
                </a:solidFill>
                <a:latin typeface="Source Sans Pro"/>
              </a:rPr>
              <a:t>AaBbCcDdEeFfGg 0123456789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138927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Source Sans Pro"/>
              </a:rPr>
              <a:t>Bold </a:t>
            </a:r>
            <a:r>
              <a:rPr sz="1200" i="1">
                <a:solidFill>
                  <a:srgbClr val="333333"/>
                </a:solidFill>
                <a:latin typeface="Source Sans Pro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Source Sans Pro"/>
              </a:rPr>
              <a:t>Bold Italic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5596127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Ubuntu (humanist sans-serif): </a:t>
            </a:r>
            <a:r>
              <a:rPr sz="1400">
                <a:solidFill>
                  <a:srgbClr val="1A1A1A"/>
                </a:solidFill>
                <a:latin typeface="Ubuntu"/>
              </a:rPr>
              <a:t>AaBbCcDdEeFfGg 0123456789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980175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Ubuntu"/>
              </a:rPr>
              <a:t>Bold </a:t>
            </a:r>
            <a:r>
              <a:rPr sz="1200" i="1">
                <a:solidFill>
                  <a:srgbClr val="333333"/>
                </a:solidFill>
                <a:latin typeface="Ubuntu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Ubuntu"/>
              </a:rPr>
              <a:t>Bold Italic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3399"/>
                </a:solidFill>
                <a:latin typeface="Calibri"/>
              </a:rPr>
              <a:t>Google Fonts — Serif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Noto Serif (serif): </a:t>
            </a:r>
            <a:r>
              <a:rPr sz="1400">
                <a:solidFill>
                  <a:srgbClr val="1A1A1A"/>
                </a:solidFill>
                <a:latin typeface="Noto Serif"/>
              </a:rPr>
              <a:t>AaBbCcDdEeFfGg 0123456789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32688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Noto Serif"/>
              </a:rPr>
              <a:t>Bold </a:t>
            </a:r>
            <a:r>
              <a:rPr sz="1200" i="1">
                <a:solidFill>
                  <a:srgbClr val="333333"/>
                </a:solidFill>
                <a:latin typeface="Noto Serif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Noto Serif"/>
              </a:rPr>
              <a:t>Bold Italic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89888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Playfair Display (transitional serif): </a:t>
            </a:r>
            <a:r>
              <a:rPr sz="1400">
                <a:solidFill>
                  <a:srgbClr val="1A1A1A"/>
                </a:solidFill>
                <a:latin typeface="Playfair Display"/>
              </a:rPr>
              <a:t>AaBbCcDdEeFfGg 0123456789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73936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Playfair Display"/>
              </a:rPr>
              <a:t>Bold </a:t>
            </a:r>
            <a:r>
              <a:rPr sz="1200" i="1">
                <a:solidFill>
                  <a:srgbClr val="333333"/>
                </a:solidFill>
                <a:latin typeface="Playfair Display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Playfair Display"/>
              </a:rPr>
              <a:t>Bold Italic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31136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Roboto Slab (slab serif): </a:t>
            </a:r>
            <a:r>
              <a:rPr sz="1400">
                <a:solidFill>
                  <a:srgbClr val="1A1A1A"/>
                </a:solidFill>
                <a:latin typeface="Roboto Slab"/>
              </a:rPr>
              <a:t>AaBbCcDdEeFfGg 0123456789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615184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Roboto Slab"/>
              </a:rPr>
              <a:t>Bold </a:t>
            </a:r>
            <a:r>
              <a:rPr sz="1200" i="1">
                <a:solidFill>
                  <a:srgbClr val="333333"/>
                </a:solidFill>
                <a:latin typeface="Roboto Slab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Roboto Slab"/>
              </a:rPr>
              <a:t>Bold Italic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072384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Roboto Slab Light (slab serif, light weight): </a:t>
            </a:r>
            <a:r>
              <a:rPr sz="1400">
                <a:solidFill>
                  <a:srgbClr val="1A1A1A"/>
                </a:solidFill>
                <a:latin typeface="Roboto Slab Light"/>
              </a:rPr>
              <a:t>AaBbCcDdEeFfGg 0123456789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56432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Roboto Slab Light"/>
              </a:rPr>
              <a:t>Bold </a:t>
            </a:r>
            <a:r>
              <a:rPr sz="1200" i="1">
                <a:solidFill>
                  <a:srgbClr val="333333"/>
                </a:solidFill>
                <a:latin typeface="Roboto Slab Light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Roboto Slab Light"/>
              </a:rPr>
              <a:t>Bold Italic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13631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Roboto Slab SemiBold (slab serif, semibold weight): </a:t>
            </a:r>
            <a:r>
              <a:rPr sz="1400">
                <a:solidFill>
                  <a:srgbClr val="1A1A1A"/>
                </a:solidFill>
                <a:latin typeface="Roboto Slab SemiBold"/>
              </a:rPr>
              <a:t>AaBbCcDdEeFfGg 0123456789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97679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Roboto Slab SemiBold"/>
              </a:rPr>
              <a:t>Bold </a:t>
            </a:r>
            <a:r>
              <a:rPr sz="1200" i="1">
                <a:solidFill>
                  <a:srgbClr val="333333"/>
                </a:solidFill>
                <a:latin typeface="Roboto Slab SemiBold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Roboto Slab SemiBold"/>
              </a:rPr>
              <a:t>Bold Italic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754879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Tinos (transitional serif): </a:t>
            </a:r>
            <a:r>
              <a:rPr sz="1400">
                <a:solidFill>
                  <a:srgbClr val="1A1A1A"/>
                </a:solidFill>
                <a:latin typeface="Tinos"/>
              </a:rPr>
              <a:t>AaBbCcDdEeFfGg 0123456789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138927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Tinos"/>
              </a:rPr>
              <a:t>Bold </a:t>
            </a:r>
            <a:r>
              <a:rPr sz="1200" i="1">
                <a:solidFill>
                  <a:srgbClr val="333333"/>
                </a:solidFill>
                <a:latin typeface="Tinos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Tinos"/>
              </a:rPr>
              <a:t>Bold Italic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3399"/>
                </a:solidFill>
                <a:latin typeface="Calibri"/>
              </a:rPr>
              <a:t>Google Fonts — Monospace &amp; Symbols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Courier Prime (monospace): </a:t>
            </a:r>
            <a:r>
              <a:rPr sz="1400">
                <a:solidFill>
                  <a:srgbClr val="1A1A1A"/>
                </a:solidFill>
                <a:latin typeface="Courier Prime"/>
              </a:rPr>
              <a:t>AaBbCcDdEeFfGg 0123456789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32688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Courier Prime"/>
              </a:rPr>
              <a:t>Bold </a:t>
            </a:r>
            <a:r>
              <a:rPr sz="1200" i="1">
                <a:solidFill>
                  <a:srgbClr val="333333"/>
                </a:solidFill>
                <a:latin typeface="Courier Prime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Courier Prime"/>
              </a:rPr>
              <a:t>Bold Italic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89888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Fira Code (monospace): </a:t>
            </a:r>
            <a:r>
              <a:rPr sz="1400">
                <a:solidFill>
                  <a:srgbClr val="1A1A1A"/>
                </a:solidFill>
                <a:latin typeface="Fira Code"/>
              </a:rPr>
              <a:t>AaBbCcDdEeFfGg 0123456789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73936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Fira Code"/>
              </a:rPr>
              <a:t>Bold </a:t>
            </a:r>
            <a:r>
              <a:rPr sz="1200" i="1">
                <a:solidFill>
                  <a:srgbClr val="333333"/>
                </a:solidFill>
                <a:latin typeface="Fira Code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Fira Code"/>
              </a:rPr>
              <a:t>Bold Italic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31136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Roboto Mono (monospace): </a:t>
            </a:r>
            <a:r>
              <a:rPr sz="1400">
                <a:solidFill>
                  <a:srgbClr val="1A1A1A"/>
                </a:solidFill>
                <a:latin typeface="Roboto Mono"/>
              </a:rPr>
              <a:t>AaBbCcDdEeFfGg 0123456789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615184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Roboto Mono"/>
              </a:rPr>
              <a:t>Bold </a:t>
            </a:r>
            <a:r>
              <a:rPr sz="1200" i="1">
                <a:solidFill>
                  <a:srgbClr val="333333"/>
                </a:solidFill>
                <a:latin typeface="Roboto Mono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Roboto Mono"/>
              </a:rPr>
              <a:t>Bold Italic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072384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Source Code Pro (monospace): </a:t>
            </a:r>
            <a:r>
              <a:rPr sz="1400">
                <a:solidFill>
                  <a:srgbClr val="1A1A1A"/>
                </a:solidFill>
                <a:latin typeface="Source Code Pro"/>
              </a:rPr>
              <a:t>AaBbCcDdEeFfGg 0123456789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56432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Source Code Pro"/>
              </a:rPr>
              <a:t>Bold </a:t>
            </a:r>
            <a:r>
              <a:rPr sz="1200" i="1">
                <a:solidFill>
                  <a:srgbClr val="333333"/>
                </a:solidFill>
                <a:latin typeface="Source Code Pro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Source Code Pro"/>
              </a:rPr>
              <a:t>Bold Italic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13631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Noto Sans Symbols (symbols &amp; arrows): </a:t>
            </a:r>
            <a:r>
              <a:rPr sz="1400">
                <a:solidFill>
                  <a:srgbClr val="1A1A1A"/>
                </a:solidFill>
                <a:latin typeface="Noto Sans Symbols"/>
              </a:rPr>
              <a:t>AaBbCcDdEeFfGg 0123456789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97679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Noto Sans Symbols"/>
              </a:rPr>
              <a:t>Bold </a:t>
            </a:r>
            <a:r>
              <a:rPr sz="1200" i="1">
                <a:solidFill>
                  <a:srgbClr val="333333"/>
                </a:solidFill>
                <a:latin typeface="Noto Sans Symbols"/>
              </a:rPr>
              <a:t>Italic </a:t>
            </a:r>
            <a:r>
              <a:rPr sz="1200" b="1" i="1">
                <a:solidFill>
                  <a:srgbClr val="333333"/>
                </a:solidFill>
                <a:latin typeface="Noto Sans Symbols"/>
              </a:rPr>
              <a:t>Bold Italic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3399"/>
                </a:solidFill>
                <a:latin typeface="Calibri"/>
              </a:rPr>
              <a:t>Size Comparison — Core Fonts at Multiple Sizes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Calibri 10pt: </a:t>
            </a:r>
            <a:r>
              <a:rPr sz="1000">
                <a:solidFill>
                  <a:srgbClr val="1A1A1A"/>
                </a:solidFill>
                <a:latin typeface="Calibri"/>
              </a:rPr>
              <a:t>Hamburgevons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Calibri 14pt: </a:t>
            </a:r>
            <a:r>
              <a:rPr sz="1400">
                <a:solidFill>
                  <a:srgbClr val="1A1A1A"/>
                </a:solidFill>
                <a:latin typeface="Calibri"/>
              </a:rPr>
              <a:t>Hamburgevons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19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Calibri 20pt: </a:t>
            </a:r>
            <a:r>
              <a:rPr sz="2000">
                <a:solidFill>
                  <a:srgbClr val="1A1A1A"/>
                </a:solidFill>
                <a:latin typeface="Calibri"/>
              </a:rPr>
              <a:t>Hamburgevons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44319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Calibri 28pt: </a:t>
            </a:r>
            <a:r>
              <a:rPr sz="2800">
                <a:solidFill>
                  <a:srgbClr val="1A1A1A"/>
                </a:solidFill>
                <a:latin typeface="Calibri"/>
              </a:rPr>
              <a:t>Hamburgevons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42159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Calibri 36pt: </a:t>
            </a:r>
            <a:r>
              <a:rPr sz="3600">
                <a:solidFill>
                  <a:srgbClr val="1A1A1A"/>
                </a:solidFill>
                <a:latin typeface="Calibri"/>
              </a:rPr>
              <a:t>Hamburgevons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819399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Arial 10pt: </a:t>
            </a:r>
            <a:r>
              <a:rPr sz="1000">
                <a:solidFill>
                  <a:srgbClr val="1A1A1A"/>
                </a:solidFill>
                <a:latin typeface="Arial"/>
              </a:rPr>
              <a:t>Hamburgevons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139439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Arial 14pt: </a:t>
            </a:r>
            <a:r>
              <a:rPr sz="1400">
                <a:solidFill>
                  <a:srgbClr val="1A1A1A"/>
                </a:solidFill>
                <a:latin typeface="Arial"/>
              </a:rPr>
              <a:t>Hamburgevons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59479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Arial 20pt: </a:t>
            </a:r>
            <a:r>
              <a:rPr sz="2000">
                <a:solidFill>
                  <a:srgbClr val="1A1A1A"/>
                </a:solidFill>
                <a:latin typeface="Arial"/>
              </a:rPr>
              <a:t>Hamburgevons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815079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Arial 28pt: </a:t>
            </a:r>
            <a:r>
              <a:rPr sz="2800">
                <a:solidFill>
                  <a:srgbClr val="1A1A1A"/>
                </a:solidFill>
                <a:latin typeface="Arial"/>
              </a:rPr>
              <a:t>Hamburgevons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312919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Arial 36pt: </a:t>
            </a:r>
            <a:r>
              <a:rPr sz="3600">
                <a:solidFill>
                  <a:srgbClr val="1A1A1A"/>
                </a:solidFill>
                <a:latin typeface="Arial"/>
              </a:rPr>
              <a:t>Hamburgevons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5090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Times New Roman 10pt: </a:t>
            </a:r>
            <a:r>
              <a:rPr sz="1000">
                <a:solidFill>
                  <a:srgbClr val="1A1A1A"/>
                </a:solidFill>
                <a:latin typeface="Times New Roman"/>
              </a:rPr>
              <a:t>Hamburgevons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410199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Times New Roman 14pt: </a:t>
            </a:r>
            <a:r>
              <a:rPr sz="1400">
                <a:solidFill>
                  <a:srgbClr val="1A1A1A"/>
                </a:solidFill>
                <a:latin typeface="Times New Roman"/>
              </a:rPr>
              <a:t>Hamburgevons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5730239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Times New Roman 20pt: </a:t>
            </a:r>
            <a:r>
              <a:rPr sz="2000">
                <a:solidFill>
                  <a:srgbClr val="1A1A1A"/>
                </a:solidFill>
                <a:latin typeface="Times New Roman"/>
              </a:rPr>
              <a:t>Hamburgevons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085839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Times New Roman 28pt: </a:t>
            </a:r>
            <a:r>
              <a:rPr sz="2800">
                <a:solidFill>
                  <a:srgbClr val="1A1A1A"/>
                </a:solidFill>
                <a:latin typeface="Times New Roman"/>
              </a:rPr>
              <a:t>Hamburgevons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83679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99999"/>
                </a:solidFill>
                <a:latin typeface="Calibri"/>
              </a:rPr>
              <a:t>Times New Roman 36pt: </a:t>
            </a:r>
            <a:r>
              <a:rPr sz="3600">
                <a:solidFill>
                  <a:srgbClr val="1A1A1A"/>
                </a:solidFill>
                <a:latin typeface="Times New Roman"/>
              </a:rPr>
              <a:t>Hamburgevons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3399"/>
                </a:solidFill>
                <a:latin typeface="Calibri"/>
              </a:rPr>
              <a:t>Mixed Font Paragraphs (Real-World Scenarios)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A1A1A"/>
                </a:solidFill>
                <a:latin typeface="Calibri"/>
              </a:rPr>
              <a:t>Revenue grew </a:t>
            </a:r>
            <a:r>
              <a:rPr sz="1600" b="1" i="0">
                <a:solidFill>
                  <a:srgbClr val="1A1A1A"/>
                </a:solidFill>
                <a:latin typeface="Calibri"/>
              </a:rPr>
              <a:t>23.5%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year-over-year, driven by </a:t>
            </a:r>
            <a:r>
              <a:rPr sz="1600" b="1" i="1">
                <a:solidFill>
                  <a:srgbClr val="1A1A1A"/>
                </a:solidFill>
                <a:latin typeface="Calibri"/>
              </a:rPr>
              <a:t>strong Q4 performance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. Source: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Bloomberg Terminal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data feed.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2D2D"/>
                </a:solidFill>
                <a:latin typeface="Segoe UI"/>
              </a:rPr>
              <a:t>The function </a:t>
            </a:r>
            <a:r>
              <a:rPr sz="1400" b="0">
                <a:solidFill>
                  <a:srgbClr val="2D2D2D"/>
                </a:solidFill>
                <a:latin typeface="Fira Code"/>
              </a:rPr>
              <a:t>calculateMetrics()</a:t>
            </a:r>
            <a:r>
              <a:rPr sz="1400" b="0">
                <a:solidFill>
                  <a:srgbClr val="2D2D2D"/>
                </a:solidFill>
                <a:latin typeface="Segoe UI"/>
              </a:rPr>
              <a:t> accepts a </a:t>
            </a:r>
            <a:r>
              <a:rPr sz="1400" b="1">
                <a:solidFill>
                  <a:srgbClr val="2D2D2D"/>
                </a:solidFill>
                <a:latin typeface="Source Code Pro"/>
              </a:rPr>
              <a:t>FontFamily</a:t>
            </a:r>
            <a:r>
              <a:rPr sz="1400" b="0">
                <a:solidFill>
                  <a:srgbClr val="2D2D2D"/>
                </a:solidFill>
                <a:latin typeface="Segoe UI"/>
              </a:rPr>
              <a:t> parameter and returns </a:t>
            </a:r>
            <a:r>
              <a:rPr sz="1400" b="1">
                <a:solidFill>
                  <a:srgbClr val="2D2D2D"/>
                </a:solidFill>
                <a:latin typeface="Roboto Mono"/>
              </a:rPr>
              <a:t>AdvanceWidth[]</a:t>
            </a:r>
            <a:r>
              <a:rPr sz="1400" b="0">
                <a:solidFill>
                  <a:srgbClr val="2D2D2D"/>
                </a:solidFill>
                <a:latin typeface="Segoe U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Noto Sans"/>
              </a:rPr>
              <a:t>Arrows: </a:t>
            </a:r>
            <a:r>
              <a:rPr sz="1600" b="0">
                <a:solidFill>
                  <a:srgbClr val="1A1A1A"/>
                </a:solidFill>
                <a:latin typeface="Noto Sans Symbols"/>
              </a:rPr>
              <a:t>← ↑ → ↓ ⇐ ⇒</a:t>
            </a:r>
            <a:r>
              <a:rPr sz="1600" b="0">
                <a:solidFill>
                  <a:srgbClr val="1A1A1A"/>
                </a:solidFill>
                <a:latin typeface="Noto Sans"/>
              </a:rPr>
              <a:t>  Math: </a:t>
            </a:r>
            <a:r>
              <a:rPr sz="1600" b="0">
                <a:solidFill>
                  <a:srgbClr val="1A1A1A"/>
                </a:solidFill>
                <a:latin typeface="Noto Sans Symbols"/>
              </a:rPr>
              <a:t>∀x ∈ ℝ, ∃y: x² + y² = 1</a:t>
            </a:r>
            <a:r>
              <a:rPr sz="1600" b="0">
                <a:solidFill>
                  <a:srgbClr val="1A1A1A"/>
                </a:solidFill>
                <a:latin typeface="Noto Sans"/>
              </a:rPr>
              <a:t>  Currency: £ € ¥ 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Montserrat"/>
              </a:rPr>
              <a:t>Heading 1 — Montserrat Bold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13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1A1A"/>
                </a:solidFill>
                <a:latin typeface="Raleway"/>
              </a:rPr>
              <a:t>Heading 2 — Raleway 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330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1A1A"/>
                </a:solidFill>
                <a:latin typeface="Poppins"/>
              </a:rPr>
              <a:t>Heading 3 — Poppins Bold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75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Roboto"/>
              </a:rPr>
              <a:t>Body text in Roboto. Lorem ipsum dolor sit amet, consectetur adipiscing elit.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9599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1A1A"/>
                </a:solidFill>
                <a:latin typeface="Lato Light"/>
              </a:rPr>
              <a:t>Caption in Lato Light italic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3399"/>
                </a:solidFill>
                <a:latin typeface="Calibri"/>
              </a:rPr>
              <a:t>Calibri — Office default body font (Carlito substitute)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99999"/>
                </a:solidFill>
                <a:latin typeface="Calibri"/>
              </a:rPr>
              <a:t>Regular 24pt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A1A1A"/>
                </a:solidFill>
                <a:latin typeface="Calibri"/>
              </a:rPr>
              <a:t>ABCDEFGHIJKLMNOPQRSTUVWXYZ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7348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A1A1A"/>
                </a:solidFill>
                <a:latin typeface="Calibri"/>
              </a:rPr>
              <a:t>abcdefghijklmnopqrstuvwxyz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61159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1A1A1A"/>
                </a:solidFill>
                <a:latin typeface="Calibri"/>
              </a:rPr>
              <a:t>0123456789 !@#$%^&amp;*()+-=[]{}|;':",./&lt;&gt;?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675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34188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999999"/>
                </a:solidFill>
                <a:latin typeface="Calibri"/>
              </a:rPr>
              <a:t>Bold 20pt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52476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A1A1A"/>
                </a:solidFill>
                <a:latin typeface="Calibri"/>
              </a:rPr>
              <a:t>The quick brown fox jumps over the lazy dog.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11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20548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999999"/>
                </a:solidFill>
                <a:latin typeface="Calibri"/>
              </a:rPr>
              <a:t>Italic 20pt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38836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>
                <a:solidFill>
                  <a:srgbClr val="1A1A1A"/>
                </a:solidFill>
                <a:latin typeface="Calibri"/>
              </a:rPr>
              <a:t>The quick brown fox jumps over the lazy dog.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7947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0690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1">
                <a:solidFill>
                  <a:srgbClr val="999999"/>
                </a:solidFill>
                <a:latin typeface="Calibri"/>
              </a:rPr>
              <a:t>Bold Italic 18pt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2519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1">
                <a:solidFill>
                  <a:srgbClr val="1A1A1A"/>
                </a:solidFill>
                <a:latin typeface="Calibri"/>
              </a:rPr>
              <a:t>The quick brown fox jumps over the lazy dog.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892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99999"/>
                </a:solidFill>
                <a:latin typeface="Calibri"/>
              </a:rPr>
              <a:t>Small 10pt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0749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Calibri"/>
              </a:rPr>
              <a:t>Lorem ipsum dolor sit amet, consectetur adipiscing elit. Sed do eiusmod tempor incididunt ut labore et dolore magna aliqua. Ut enim ad minim veniam, quis nostrud exercitation ullamco laboris.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3399"/>
                </a:solidFill>
                <a:latin typeface="Calibri"/>
              </a:rPr>
              <a:t>Arial — Universal sans-serif (Liberation Sans)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99999"/>
                </a:solidFill>
                <a:latin typeface="Calibri"/>
              </a:rPr>
              <a:t>Regular 24pt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A1A1A"/>
                </a:solidFill>
                <a:latin typeface="Arial"/>
              </a:rPr>
              <a:t>ABCDEFGHIJKLMNOPQRSTUVWXYZ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7348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A1A1A"/>
                </a:solidFill>
                <a:latin typeface="Arial"/>
              </a:rPr>
              <a:t>abcdefghijklmnopqrstuvwxyz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61159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1A1A1A"/>
                </a:solidFill>
                <a:latin typeface="Arial"/>
              </a:rPr>
              <a:t>0123456789 !@#$%^&amp;*()+-=[]{}|;':",./&lt;&gt;?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675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34188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999999"/>
                </a:solidFill>
                <a:latin typeface="Calibri"/>
              </a:rPr>
              <a:t>Bold 20pt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52476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A1A1A"/>
                </a:solidFill>
                <a:latin typeface="Arial"/>
              </a:rPr>
              <a:t>The quick brown fox jumps over the lazy dog.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11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20548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999999"/>
                </a:solidFill>
                <a:latin typeface="Calibri"/>
              </a:rPr>
              <a:t>Italic 20pt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38836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>
                <a:solidFill>
                  <a:srgbClr val="1A1A1A"/>
                </a:solidFill>
                <a:latin typeface="Arial"/>
              </a:rPr>
              <a:t>The quick brown fox jumps over the lazy dog.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7947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0690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1">
                <a:solidFill>
                  <a:srgbClr val="999999"/>
                </a:solidFill>
                <a:latin typeface="Calibri"/>
              </a:rPr>
              <a:t>Bold Italic 18pt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2519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1">
                <a:solidFill>
                  <a:srgbClr val="1A1A1A"/>
                </a:solidFill>
                <a:latin typeface="Arial"/>
              </a:rPr>
              <a:t>The quick brown fox jumps over the lazy dog.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892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99999"/>
                </a:solidFill>
                <a:latin typeface="Calibri"/>
              </a:rPr>
              <a:t>Small 10pt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0749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rial"/>
              </a:rPr>
              <a:t>Lorem ipsum dolor sit amet, consectetur adipiscing elit. Sed do eiusmod tempor incididunt ut labore et dolore magna aliqua. Ut enim ad minim veniam, quis nostrud exercitation ullamco laboris.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3399"/>
                </a:solidFill>
                <a:latin typeface="Calibri"/>
              </a:rPr>
              <a:t>Times New Roman — Classic serif (Liberation Serif)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99999"/>
                </a:solidFill>
                <a:latin typeface="Calibri"/>
              </a:rPr>
              <a:t>Regular 24pt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A1A1A"/>
                </a:solidFill>
                <a:latin typeface="Times New Roman"/>
              </a:rPr>
              <a:t>ABCDEFGHIJKLMNOPQRSTUVWXYZ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7348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A1A1A"/>
                </a:solidFill>
                <a:latin typeface="Times New Roman"/>
              </a:rPr>
              <a:t>abcdefghijklmnopqrstuvwxyz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61159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1A1A1A"/>
                </a:solidFill>
                <a:latin typeface="Times New Roman"/>
              </a:rPr>
              <a:t>0123456789 !@#$%^&amp;*()+-=[]{}|;':",./&lt;&gt;?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675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Times New Roman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34188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999999"/>
                </a:solidFill>
                <a:latin typeface="Calibri"/>
              </a:rPr>
              <a:t>Bold 20pt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52476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A1A1A"/>
                </a:solidFill>
                <a:latin typeface="Times New Roman"/>
              </a:rPr>
              <a:t>The quick brown fox jumps over the lazy dog.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11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Times New Roman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20548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999999"/>
                </a:solidFill>
                <a:latin typeface="Calibri"/>
              </a:rPr>
              <a:t>Italic 20pt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38836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>
                <a:solidFill>
                  <a:srgbClr val="1A1A1A"/>
                </a:solidFill>
                <a:latin typeface="Times New Roman"/>
              </a:rPr>
              <a:t>The quick brown fox jumps over the lazy dog.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7947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Times New Roman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0690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1">
                <a:solidFill>
                  <a:srgbClr val="999999"/>
                </a:solidFill>
                <a:latin typeface="Calibri"/>
              </a:rPr>
              <a:t>Bold Italic 18pt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2519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1">
                <a:solidFill>
                  <a:srgbClr val="1A1A1A"/>
                </a:solidFill>
                <a:latin typeface="Times New Roman"/>
              </a:rPr>
              <a:t>The quick brown fox jumps over the lazy dog.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Times New Roman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892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99999"/>
                </a:solidFill>
                <a:latin typeface="Calibri"/>
              </a:rPr>
              <a:t>Small 10pt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0749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Times New Roman"/>
              </a:rPr>
              <a:t>Lorem ipsum dolor sit amet, consectetur adipiscing elit. Sed do eiusmod tempor incididunt ut labore et dolore magna aliqua. Ut enim ad minim veniam, quis nostrud exercitation ullamco laboris.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3399"/>
                </a:solidFill>
                <a:latin typeface="Calibri"/>
              </a:rPr>
              <a:t>Courier New — Classic monospace (Liberation Mono)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99999"/>
                </a:solidFill>
                <a:latin typeface="Calibri"/>
              </a:rPr>
              <a:t>Regular 24pt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A1A1A"/>
                </a:solidFill>
                <a:latin typeface="Courier New"/>
              </a:rPr>
              <a:t>ABCDEFGHIJKLMNOPQRSTUVWXYZ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7348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A1A1A"/>
                </a:solidFill>
                <a:latin typeface="Courier New"/>
              </a:rPr>
              <a:t>abcdefghijklmnopqrstuvwxyz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61159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1A1A1A"/>
                </a:solidFill>
                <a:latin typeface="Courier New"/>
              </a:rPr>
              <a:t>0123456789 !@#$%^&amp;*()+-=[]{}|;':",./&lt;&gt;?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675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Courier New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34188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999999"/>
                </a:solidFill>
                <a:latin typeface="Calibri"/>
              </a:rPr>
              <a:t>Bold 20pt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52476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A1A1A"/>
                </a:solidFill>
                <a:latin typeface="Courier New"/>
              </a:rPr>
              <a:t>The quick brown fox jumps over the lazy dog.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11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Courier New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20548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999999"/>
                </a:solidFill>
                <a:latin typeface="Calibri"/>
              </a:rPr>
              <a:t>Italic 20pt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38836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>
                <a:solidFill>
                  <a:srgbClr val="1A1A1A"/>
                </a:solidFill>
                <a:latin typeface="Courier New"/>
              </a:rPr>
              <a:t>The quick brown fox jumps over the lazy dog.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7947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Courier New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0690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1">
                <a:solidFill>
                  <a:srgbClr val="999999"/>
                </a:solidFill>
                <a:latin typeface="Calibri"/>
              </a:rPr>
              <a:t>Bold Italic 18pt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2519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1">
                <a:solidFill>
                  <a:srgbClr val="1A1A1A"/>
                </a:solidFill>
                <a:latin typeface="Courier New"/>
              </a:rPr>
              <a:t>The quick brown fox jumps over the lazy dog.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Courier New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892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99999"/>
                </a:solidFill>
                <a:latin typeface="Calibri"/>
              </a:rPr>
              <a:t>Small 10pt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0749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Courier New"/>
              </a:rPr>
              <a:t>Lorem ipsum dolor sit amet, consectetur adipiscing elit. Sed do eiusmod tempor incididunt ut labore et dolore magna aliqua. Ut enim ad minim veniam, quis nostrud exercitation ullamco laboris.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3399"/>
                </a:solidFill>
                <a:latin typeface="Calibri"/>
              </a:rPr>
              <a:t>Georgia — Screen-optimized serif (Gelasio)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99999"/>
                </a:solidFill>
                <a:latin typeface="Calibri"/>
              </a:rPr>
              <a:t>Regular 24pt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A1A1A"/>
                </a:solidFill>
                <a:latin typeface="Georgia"/>
              </a:rPr>
              <a:t>ABCDEFGHIJKLMNOPQRSTUVWXYZ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7348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A1A1A"/>
                </a:solidFill>
                <a:latin typeface="Georgia"/>
              </a:rPr>
              <a:t>abcdefghijklmnopqrstuvwxyz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61159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1A1A1A"/>
                </a:solidFill>
                <a:latin typeface="Georgia"/>
              </a:rPr>
              <a:t>0123456789 !@#$%^&amp;*()+-=[]{}|;':",./&lt;&gt;?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675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Georgia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34188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999999"/>
                </a:solidFill>
                <a:latin typeface="Calibri"/>
              </a:rPr>
              <a:t>Bold 20pt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52476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A1A1A"/>
                </a:solidFill>
                <a:latin typeface="Georgia"/>
              </a:rPr>
              <a:t>The quick brown fox jumps over the lazy dog.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11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Georgia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20548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999999"/>
                </a:solidFill>
                <a:latin typeface="Calibri"/>
              </a:rPr>
              <a:t>Italic 20pt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38836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>
                <a:solidFill>
                  <a:srgbClr val="1A1A1A"/>
                </a:solidFill>
                <a:latin typeface="Georgia"/>
              </a:rPr>
              <a:t>The quick brown fox jumps over the lazy dog.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7947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Georgia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0690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1">
                <a:solidFill>
                  <a:srgbClr val="999999"/>
                </a:solidFill>
                <a:latin typeface="Calibri"/>
              </a:rPr>
              <a:t>Bold Italic 18pt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2519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1">
                <a:solidFill>
                  <a:srgbClr val="1A1A1A"/>
                </a:solidFill>
                <a:latin typeface="Georgia"/>
              </a:rPr>
              <a:t>The quick brown fox jumps over the lazy dog.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Georgia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892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99999"/>
                </a:solidFill>
                <a:latin typeface="Calibri"/>
              </a:rPr>
              <a:t>Small 10pt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0749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Georgia"/>
              </a:rPr>
              <a:t>Lorem ipsum dolor sit amet, consectetur adipiscing elit. Sed do eiusmod tempor incididunt ut labore et dolore magna aliqua. Ut enim ad minim veniam, quis nostrud exercitation ullamco laboris.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3399"/>
                </a:solidFill>
                <a:latin typeface="Calibri"/>
              </a:rPr>
              <a:t>Segoe UI — Windows UI font (Selawik)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99999"/>
                </a:solidFill>
                <a:latin typeface="Calibri"/>
              </a:rPr>
              <a:t>Regular 24pt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A1A1A"/>
                </a:solidFill>
                <a:latin typeface="Segoe UI"/>
              </a:rPr>
              <a:t>ABCDEFGHIJKLMNOPQRSTUVWXYZ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7348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A1A1A"/>
                </a:solidFill>
                <a:latin typeface="Segoe UI"/>
              </a:rPr>
              <a:t>abcdefghijklmnopqrstuvwxyz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61159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1A1A1A"/>
                </a:solidFill>
                <a:latin typeface="Segoe UI"/>
              </a:rPr>
              <a:t>0123456789 !@#$%^&amp;*()+-=[]{}|;':",./&lt;&gt;?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675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Segoe U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34188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999999"/>
                </a:solidFill>
                <a:latin typeface="Calibri"/>
              </a:rPr>
              <a:t>Bold 20pt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52476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A1A1A"/>
                </a:solidFill>
                <a:latin typeface="Segoe UI"/>
              </a:rPr>
              <a:t>The quick brown fox jumps over the lazy dog.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11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Segoe U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20548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999999"/>
                </a:solidFill>
                <a:latin typeface="Calibri"/>
              </a:rPr>
              <a:t>Italic 20pt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38836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>
                <a:solidFill>
                  <a:srgbClr val="1A1A1A"/>
                </a:solidFill>
                <a:latin typeface="Segoe UI"/>
              </a:rPr>
              <a:t>The quick brown fox jumps over the lazy dog.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7947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Segoe U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0690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1">
                <a:solidFill>
                  <a:srgbClr val="999999"/>
                </a:solidFill>
                <a:latin typeface="Calibri"/>
              </a:rPr>
              <a:t>Bold Italic 18pt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2519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1">
                <a:solidFill>
                  <a:srgbClr val="1A1A1A"/>
                </a:solidFill>
                <a:latin typeface="Segoe UI"/>
              </a:rPr>
              <a:t>The quick brown fox jumps over the lazy dog.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Segoe U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892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99999"/>
                </a:solidFill>
                <a:latin typeface="Calibri"/>
              </a:rPr>
              <a:t>Small 10pt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0749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Segoe UI"/>
              </a:rPr>
              <a:t>Lorem ipsum dolor sit amet, consectetur adipiscing elit. Sed do eiusmod tempor incididunt ut labore et dolore magna aliqua. Ut enim ad minim veniam, quis nostrud exercitation ullamco laboris.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3399"/>
                </a:solidFill>
                <a:latin typeface="Calibri"/>
              </a:rPr>
              <a:t>Roboto — Google's flagship sans-serif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99999"/>
                </a:solidFill>
                <a:latin typeface="Calibri"/>
              </a:rPr>
              <a:t>Regular 24pt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A1A1A"/>
                </a:solidFill>
                <a:latin typeface="Roboto"/>
              </a:rPr>
              <a:t>ABCDEFGHIJKLMNOPQRSTUVWXYZ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7348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A1A1A"/>
                </a:solidFill>
                <a:latin typeface="Roboto"/>
              </a:rPr>
              <a:t>abcdefghijklmnopqrstuvwxyz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61159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1A1A1A"/>
                </a:solidFill>
                <a:latin typeface="Roboto"/>
              </a:rPr>
              <a:t>0123456789 !@#$%^&amp;*()+-=[]{}|;':",./&lt;&gt;?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675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Roboto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34188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999999"/>
                </a:solidFill>
                <a:latin typeface="Calibri"/>
              </a:rPr>
              <a:t>Bold 20pt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52476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A1A1A"/>
                </a:solidFill>
                <a:latin typeface="Roboto"/>
              </a:rPr>
              <a:t>The quick brown fox jumps over the lazy dog.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11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Roboto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20548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999999"/>
                </a:solidFill>
                <a:latin typeface="Calibri"/>
              </a:rPr>
              <a:t>Italic 20pt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38836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>
                <a:solidFill>
                  <a:srgbClr val="1A1A1A"/>
                </a:solidFill>
                <a:latin typeface="Roboto"/>
              </a:rPr>
              <a:t>The quick brown fox jumps over the lazy dog.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7947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Roboto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0690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1">
                <a:solidFill>
                  <a:srgbClr val="999999"/>
                </a:solidFill>
                <a:latin typeface="Calibri"/>
              </a:rPr>
              <a:t>Bold Italic 18pt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2519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1">
                <a:solidFill>
                  <a:srgbClr val="1A1A1A"/>
                </a:solidFill>
                <a:latin typeface="Roboto"/>
              </a:rPr>
              <a:t>The quick brown fox jumps over the lazy dog.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Roboto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892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99999"/>
                </a:solidFill>
                <a:latin typeface="Calibri"/>
              </a:rPr>
              <a:t>Small 10pt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0749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Roboto"/>
              </a:rPr>
              <a:t>Lorem ipsum dolor sit amet, consectetur adipiscing elit. Sed do eiusmod tempor incididunt ut labore et dolore magna aliqua. Ut enim ad minim veniam, quis nostrud exercitation ullamco laboris.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3399"/>
                </a:solidFill>
                <a:latin typeface="Calibri"/>
              </a:rPr>
              <a:t>Montserrat — Geometric display sans-serif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99999"/>
                </a:solidFill>
                <a:latin typeface="Calibri"/>
              </a:rPr>
              <a:t>Regular 24pt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A1A1A"/>
                </a:solidFill>
                <a:latin typeface="Montserrat"/>
              </a:rPr>
              <a:t>ABCDEFGHIJKLMNOPQRSTUVWXYZ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7348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A1A1A"/>
                </a:solidFill>
                <a:latin typeface="Montserrat"/>
              </a:rPr>
              <a:t>abcdefghijklmnopqrstuvwxyz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61159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1A1A1A"/>
                </a:solidFill>
                <a:latin typeface="Montserrat"/>
              </a:rPr>
              <a:t>0123456789 !@#$%^&amp;*()+-=[]{}|;':",./&lt;&gt;?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675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Montserrat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34188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999999"/>
                </a:solidFill>
                <a:latin typeface="Calibri"/>
              </a:rPr>
              <a:t>Bold 20pt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52476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A1A1A"/>
                </a:solidFill>
                <a:latin typeface="Montserrat"/>
              </a:rPr>
              <a:t>The quick brown fox jumps over the lazy dog.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11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Montserrat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20548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999999"/>
                </a:solidFill>
                <a:latin typeface="Calibri"/>
              </a:rPr>
              <a:t>Italic 20pt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38836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>
                <a:solidFill>
                  <a:srgbClr val="1A1A1A"/>
                </a:solidFill>
                <a:latin typeface="Montserrat"/>
              </a:rPr>
              <a:t>The quick brown fox jumps over the lazy dog.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7947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Montserrat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0690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1">
                <a:solidFill>
                  <a:srgbClr val="999999"/>
                </a:solidFill>
                <a:latin typeface="Calibri"/>
              </a:rPr>
              <a:t>Bold Italic 18pt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2519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1">
                <a:solidFill>
                  <a:srgbClr val="1A1A1A"/>
                </a:solidFill>
                <a:latin typeface="Montserrat"/>
              </a:rPr>
              <a:t>The quick brown fox jumps over the lazy dog.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Montserrat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892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99999"/>
                </a:solidFill>
                <a:latin typeface="Calibri"/>
              </a:rPr>
              <a:t>Small 10pt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0749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Montserrat"/>
              </a:rPr>
              <a:t>Lorem ipsum dolor sit amet, consectetur adipiscing elit. Sed do eiusmod tempor incididunt ut labore et dolore magna aliqua. Ut enim ad minim veniam, quis nostrud exercitation ullamco laboris.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3399"/>
                </a:solidFill>
                <a:latin typeface="Calibri"/>
              </a:rPr>
              <a:t>Playfair Display — High-contrast serif display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99999"/>
                </a:solidFill>
                <a:latin typeface="Calibri"/>
              </a:rPr>
              <a:t>Regular 24pt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A1A1A"/>
                </a:solidFill>
                <a:latin typeface="Playfair Display"/>
              </a:rPr>
              <a:t>ABCDEFGHIJKLMNOPQRSTUVWXYZ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7348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A1A1A"/>
                </a:solidFill>
                <a:latin typeface="Playfair Display"/>
              </a:rPr>
              <a:t>abcdefghijklmnopqrstuvwxyz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61159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1A1A1A"/>
                </a:solidFill>
                <a:latin typeface="Playfair Display"/>
              </a:rPr>
              <a:t>0123456789 !@#$%^&amp;*()+-=[]{}|;':",./&lt;&gt;?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675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Playfair Display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34188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999999"/>
                </a:solidFill>
                <a:latin typeface="Calibri"/>
              </a:rPr>
              <a:t>Bold 20pt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52476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A1A1A"/>
                </a:solidFill>
                <a:latin typeface="Playfair Display"/>
              </a:rPr>
              <a:t>The quick brown fox jumps over the lazy dog.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11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Playfair Display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20548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999999"/>
                </a:solidFill>
                <a:latin typeface="Calibri"/>
              </a:rPr>
              <a:t>Italic 20pt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38836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>
                <a:solidFill>
                  <a:srgbClr val="1A1A1A"/>
                </a:solidFill>
                <a:latin typeface="Playfair Display"/>
              </a:rPr>
              <a:t>The quick brown fox jumps over the lazy dog.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7947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Playfair Display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0690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1">
                <a:solidFill>
                  <a:srgbClr val="999999"/>
                </a:solidFill>
                <a:latin typeface="Calibri"/>
              </a:rPr>
              <a:t>Bold Italic 18pt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2519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1">
                <a:solidFill>
                  <a:srgbClr val="1A1A1A"/>
                </a:solidFill>
                <a:latin typeface="Playfair Display"/>
              </a:rPr>
              <a:t>The quick brown fox jumps over the lazy dog.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Playfair Display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892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99999"/>
                </a:solidFill>
                <a:latin typeface="Calibri"/>
              </a:rPr>
              <a:t>Small 10pt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0749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Playfair Display"/>
              </a:rPr>
              <a:t>Lorem ipsum dolor sit amet, consectetur adipiscing elit. Sed do eiusmod tempor incididunt ut labore et dolore magna aliqua. Ut enim ad minim veniam, quis nostrud exercitation ullamco laboris.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3399"/>
                </a:solidFill>
                <a:latin typeface="Calibri"/>
              </a:rPr>
              <a:t>Fira Code — Programming ligature monospace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99999"/>
                </a:solidFill>
                <a:latin typeface="Calibri"/>
              </a:rPr>
              <a:t>Regular 24pt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A1A1A"/>
                </a:solidFill>
                <a:latin typeface="Fira Code"/>
              </a:rPr>
              <a:t>ABCDEFGHIJKLMNOPQRSTUVWXYZ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7348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A1A1A"/>
                </a:solidFill>
                <a:latin typeface="Fira Code"/>
              </a:rPr>
              <a:t>abcdefghijklmnopqrstuvwxyz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61159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1A1A1A"/>
                </a:solidFill>
                <a:latin typeface="Fira Code"/>
              </a:rPr>
              <a:t>0123456789 !@#$%^&amp;*()+-=[]{}|;':",./&lt;&gt;?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675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Fira Code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34188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999999"/>
                </a:solidFill>
                <a:latin typeface="Calibri"/>
              </a:rPr>
              <a:t>Bold 20pt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52476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A1A1A"/>
                </a:solidFill>
                <a:latin typeface="Fira Code"/>
              </a:rPr>
              <a:t>The quick brown fox jumps over the lazy dog.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11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Fira Code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20548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999999"/>
                </a:solidFill>
                <a:latin typeface="Calibri"/>
              </a:rPr>
              <a:t>Italic 20pt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38836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>
                <a:solidFill>
                  <a:srgbClr val="1A1A1A"/>
                </a:solidFill>
                <a:latin typeface="Fira Code"/>
              </a:rPr>
              <a:t>The quick brown fox jumps over the lazy dog.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7947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Fira Code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0690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1">
                <a:solidFill>
                  <a:srgbClr val="999999"/>
                </a:solidFill>
                <a:latin typeface="Calibri"/>
              </a:rPr>
              <a:t>Bold Italic 18pt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2519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1">
                <a:solidFill>
                  <a:srgbClr val="1A1A1A"/>
                </a:solidFill>
                <a:latin typeface="Fira Code"/>
              </a:rPr>
              <a:t>The quick brown fox jumps over the lazy dog.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Fira Code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892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99999"/>
                </a:solidFill>
                <a:latin typeface="Calibri"/>
              </a:rPr>
              <a:t>Small 10pt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0749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Fira Code"/>
              </a:rPr>
              <a:t>Lorem ipsum dolor sit amet, consectetur adipiscing elit. Sed do eiusmod tempor incididunt ut labore et dolore magna aliqua. Ut enim ad minim veniam, quis nostrud exercitation ullamco laboris.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3399"/>
                </a:solidFill>
                <a:latin typeface="Calibri"/>
              </a:rPr>
              <a:t>Noto Sans Symbols — Unicode symbols &amp; arrows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99999"/>
                </a:solidFill>
                <a:latin typeface="Calibri"/>
              </a:rPr>
              <a:t>Regular 24pt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A1A1A"/>
                </a:solidFill>
                <a:latin typeface="Noto Sans Symbols"/>
              </a:rPr>
              <a:t>ABCDEFGHIJKLMNOPQRSTUVWXYZ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73480"/>
            <a:ext cx="859536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A1A1A"/>
                </a:solidFill>
                <a:latin typeface="Noto Sans Symbols"/>
              </a:rPr>
              <a:t>abcdefghijklmnopqrstuvwxyz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61159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1A1A1A"/>
                </a:solidFill>
                <a:latin typeface="Noto Sans Symbols"/>
              </a:rPr>
              <a:t>0123456789 !@#$%^&amp;*()+-=[]{}|;':",./&lt;&gt;?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675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Noto Sans Symbol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34188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999999"/>
                </a:solidFill>
                <a:latin typeface="Calibri"/>
              </a:rPr>
              <a:t>Bold 20pt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52476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A1A1A"/>
                </a:solidFill>
                <a:latin typeface="Noto Sans Symbols"/>
              </a:rPr>
              <a:t>The quick brown fox jumps over the lazy dog.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11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Noto Sans Symbol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20548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999999"/>
                </a:solidFill>
                <a:latin typeface="Calibri"/>
              </a:rPr>
              <a:t>Italic 20pt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388360"/>
            <a:ext cx="859536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>
                <a:solidFill>
                  <a:srgbClr val="1A1A1A"/>
                </a:solidFill>
                <a:latin typeface="Noto Sans Symbols"/>
              </a:rPr>
              <a:t>The quick brown fox jumps over the lazy dog.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7947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Noto Sans Symbol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0690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1">
                <a:solidFill>
                  <a:srgbClr val="999999"/>
                </a:solidFill>
                <a:latin typeface="Calibri"/>
              </a:rPr>
              <a:t>Bold Italic 18pt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2519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1">
                <a:solidFill>
                  <a:srgbClr val="1A1A1A"/>
                </a:solidFill>
                <a:latin typeface="Noto Sans Symbols"/>
              </a:rPr>
              <a:t>The quick brown fox jumps over the lazy dog.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1A1A1A"/>
                </a:solidFill>
                <a:latin typeface="Noto Sans Symbol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892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99999"/>
                </a:solidFill>
                <a:latin typeface="Calibri"/>
              </a:rPr>
              <a:t>Small 10pt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0749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Noto Sans Symbols"/>
              </a:rPr>
              <a:t>Lorem ipsum dolor sit amet, consectetur adipiscing elit. Sed do eiusmod tempor incididunt ut labore et dolore magna aliqua. Ut enim ad minim veniam, quis nostrud exercitation ullamco laboris.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