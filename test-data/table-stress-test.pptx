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1: Simple 4x4 Table with Borders and Cell Fills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9144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11430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>
                    <a:solidFill>
                      <a:srgbClr val="00528A"/>
                    </a:solidFill>
                    <a:lnL w="25400">
                      <a:solidFill>
                        <a:srgbClr val="003355"/>
                      </a:solidFill>
                    </a:lnL>
                    <a:lnR w="25400">
                      <a:solidFill>
                        <a:srgbClr val="003355"/>
                      </a:solidFill>
                    </a:lnR>
                    <a:lnT w="25400">
                      <a:solidFill>
                        <a:srgbClr val="003355"/>
                      </a:solidFill>
                    </a:lnT>
                    <a:lnB w="25400">
                      <a:solidFill>
                        <a:srgbClr val="0033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Q1 Sales</a:t>
                      </a:r>
                    </a:p>
                  </a:txBody>
                  <a:tcPr>
                    <a:solidFill>
                      <a:srgbClr val="00528A"/>
                    </a:solidFill>
                    <a:lnL w="25400">
                      <a:solidFill>
                        <a:srgbClr val="003355"/>
                      </a:solidFill>
                    </a:lnL>
                    <a:lnR w="25400">
                      <a:solidFill>
                        <a:srgbClr val="003355"/>
                      </a:solidFill>
                    </a:lnR>
                    <a:lnT w="25400">
                      <a:solidFill>
                        <a:srgbClr val="003355"/>
                      </a:solidFill>
                    </a:lnT>
                    <a:lnB w="25400">
                      <a:solidFill>
                        <a:srgbClr val="0033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Q2 Sales</a:t>
                      </a:r>
                    </a:p>
                  </a:txBody>
                  <a:tcPr>
                    <a:solidFill>
                      <a:srgbClr val="00528A"/>
                    </a:solidFill>
                    <a:lnL w="25400">
                      <a:solidFill>
                        <a:srgbClr val="003355"/>
                      </a:solidFill>
                    </a:lnL>
                    <a:lnR w="25400">
                      <a:solidFill>
                        <a:srgbClr val="003355"/>
                      </a:solidFill>
                    </a:lnR>
                    <a:lnT w="25400">
                      <a:solidFill>
                        <a:srgbClr val="003355"/>
                      </a:solidFill>
                    </a:lnT>
                    <a:lnB w="25400">
                      <a:solidFill>
                        <a:srgbClr val="0033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Q3 Sales</a:t>
                      </a:r>
                    </a:p>
                  </a:txBody>
                  <a:tcPr>
                    <a:solidFill>
                      <a:srgbClr val="00528A"/>
                    </a:solidFill>
                    <a:lnL w="25400">
                      <a:solidFill>
                        <a:srgbClr val="003355"/>
                      </a:solidFill>
                    </a:lnL>
                    <a:lnR w="25400">
                      <a:solidFill>
                        <a:srgbClr val="003355"/>
                      </a:solidFill>
                    </a:lnR>
                    <a:lnT w="25400">
                      <a:solidFill>
                        <a:srgbClr val="003355"/>
                      </a:solidFill>
                    </a:lnT>
                    <a:lnB w="25400">
                      <a:solidFill>
                        <a:srgbClr val="003355"/>
                      </a:solidFill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Widget A</a:t>
                      </a:r>
                    </a:p>
                  </a:txBody>
                  <a:tcPr>
                    <a:solidFill>
                      <a:srgbClr val="E8F0FE"/>
                    </a:solidFill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$1,250</a:t>
                      </a:r>
                    </a:p>
                  </a:txBody>
                  <a:tcPr>
                    <a:solidFill>
                      <a:srgbClr val="E8F0FE"/>
                    </a:solidFill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$1,430</a:t>
                      </a:r>
                    </a:p>
                  </a:txBody>
                  <a:tcPr>
                    <a:solidFill>
                      <a:srgbClr val="E8F0FE"/>
                    </a:solidFill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$1,890</a:t>
                      </a:r>
                    </a:p>
                  </a:txBody>
                  <a:tcPr>
                    <a:solidFill>
                      <a:srgbClr val="E8F0FE"/>
                    </a:solidFill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Widget B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$890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$1,050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$1,200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Widget C</a:t>
                      </a:r>
                    </a:p>
                  </a:txBody>
                  <a:tcPr>
                    <a:solidFill>
                      <a:srgbClr val="E8F0FE"/>
                    </a:solidFill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$2,100</a:t>
                      </a:r>
                    </a:p>
                  </a:txBody>
                  <a:tcPr>
                    <a:solidFill>
                      <a:srgbClr val="E8F0FE"/>
                    </a:solidFill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$1,950</a:t>
                      </a:r>
                    </a:p>
                  </a:txBody>
                  <a:tcPr>
                    <a:solidFill>
                      <a:srgbClr val="E8F0FE"/>
                    </a:solidFill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$2,350</a:t>
                      </a:r>
                    </a:p>
                  </a:txBody>
                  <a:tcPr>
                    <a:solidFill>
                      <a:srgbClr val="E8F0FE"/>
                    </a:solidFill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2: Merged Cells (Horizontal and Vertical Spans)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9144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1005840">
                <a:tc gridSpan="4"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Quarterly Revenue Report (Horizontally Merged)</a:t>
                      </a:r>
                    </a:p>
                  </a:txBody>
                  <a:tcPr>
                    <a:solidFill>
                      <a:srgbClr val="1A1A6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005840">
                <a:tc rowSpan="2">
                  <a:txBody>
                    <a:bodyPr/>
                    <a:lstStyle/>
                    <a:p>
                      <a:r>
                        <a:rPr b="1" sz="1100">
                          <a:latin typeface="Calibri"/>
                        </a:rPr>
                        <a:t>North Region</a:t>
                      </a:r>
                    </a:p>
                    <a:p>
                      <a:r>
                        <a:rPr b="1" sz="1100">
                          <a:latin typeface="Calibri"/>
                        </a:rPr>
                        <a:t>(Vertically Merged)</a:t>
                      </a:r>
                    </a:p>
                  </a:txBody>
                  <a:tcPr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Q1: $500K</a:t>
                      </a:r>
                    </a:p>
                  </a:txBody>
                  <a:tcPr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Q2: $620K</a:t>
                      </a:r>
                    </a:p>
                  </a:txBody>
                  <a:tcPr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Q3: $710K</a:t>
                      </a:r>
                    </a:p>
                  </a:txBody>
                  <a:tcPr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</a:tr>
              <a:tr h="100584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Q1: $380K</a:t>
                      </a:r>
                    </a:p>
                  </a:txBody>
                  <a:tcPr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Q2: $410K</a:t>
                      </a:r>
                    </a:p>
                  </a:txBody>
                  <a:tcPr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Q3: $450K</a:t>
                      </a:r>
                    </a:p>
                  </a:txBody>
                  <a:tcPr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</a:tr>
              <a:tr h="1005840">
                <a:tc rowSpan="2">
                  <a:txBody>
                    <a:bodyPr/>
                    <a:lstStyle/>
                    <a:p>
                      <a:r>
                        <a:rPr b="1" sz="1100">
                          <a:latin typeface="Calibri"/>
                        </a:rPr>
                        <a:t>South Region</a:t>
                      </a:r>
                    </a:p>
                    <a:p>
                      <a:r>
                        <a:rPr b="1" sz="1100">
                          <a:latin typeface="Calibri"/>
                        </a:rPr>
                        <a:t>(Vertically Merged)</a:t>
                      </a:r>
                    </a:p>
                  </a:txBody>
                  <a:tcPr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Q1: $290K</a:t>
                      </a:r>
                    </a:p>
                  </a:txBody>
                  <a:tcPr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Q2: $310K</a:t>
                      </a:r>
                    </a:p>
                  </a:txBody>
                  <a:tcPr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Q3: $365K</a:t>
                      </a:r>
                    </a:p>
                  </a:txBody>
                  <a:tcPr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</a:tr>
              <a:tr h="100584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Q1: $195K</a:t>
                      </a:r>
                    </a:p>
                  </a:txBody>
                  <a:tcPr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Q2: $220K</a:t>
                      </a:r>
                    </a:p>
                  </a:txBody>
                  <a:tcPr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Q3: $240K</a:t>
                      </a:r>
                    </a:p>
                  </a:txBody>
                  <a:tcPr>
                    <a:lnL w="12700">
                      <a:solidFill>
                        <a:srgbClr val="999999"/>
                      </a:solidFill>
                    </a:lnL>
                    <a:lnR w="12700">
                      <a:solidFill>
                        <a:srgbClr val="999999"/>
                      </a:solidFill>
                    </a:lnR>
                    <a:lnT w="12700">
                      <a:solidFill>
                        <a:srgbClr val="999999"/>
                      </a:solidFill>
                    </a:lnT>
                    <a:lnB w="12700">
                      <a:solidFill>
                        <a:srgbClr val="999999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3: Cell Text Alignments (3x3 Grid: V x H)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9144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257300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latin typeface="Calibri"/>
                        </a:rPr>
                        <a:t>Left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latin typeface="Calibri"/>
                        </a:rPr>
                        <a:t>Center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latin typeface="Calibri"/>
                        </a:rPr>
                        <a:t>Right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latin typeface="Calibri"/>
                        </a:rPr>
                        <a:t>Top</a:t>
                      </a:r>
                    </a:p>
                  </a:txBody>
                  <a:tcPr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Top-Left</a:t>
                      </a:r>
                    </a:p>
                  </a:txBody>
                  <a:tcPr anchor="t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Top-Center</a:t>
                      </a:r>
                    </a:p>
                  </a:txBody>
                  <a:tcPr anchor="t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latin typeface="Calibri"/>
                        </a:rPr>
                        <a:t>Top-Right</a:t>
                      </a:r>
                    </a:p>
                  </a:txBody>
                  <a:tcPr anchor="t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latin typeface="Calibri"/>
                        </a:rPr>
                        <a:t>Middle</a:t>
                      </a:r>
                    </a:p>
                  </a:txBody>
                  <a:tcPr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Middle-Left</a:t>
                      </a:r>
                    </a:p>
                  </a:txBody>
                  <a:tcPr anchor="ctr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Middle-Center</a:t>
                      </a:r>
                    </a:p>
                  </a:txBody>
                  <a:tcPr anchor="ctr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latin typeface="Calibri"/>
                        </a:rPr>
                        <a:t>Middle-Right</a:t>
                      </a:r>
                    </a:p>
                  </a:txBody>
                  <a:tcPr anchor="ctr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latin typeface="Calibri"/>
                        </a:rPr>
                        <a:t>Bottom</a:t>
                      </a:r>
                    </a:p>
                  </a:txBody>
                  <a:tcPr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Bottom-Left</a:t>
                      </a:r>
                    </a:p>
                  </a:txBody>
                  <a:tcPr anchor="b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Calibri"/>
                        </a:rPr>
                        <a:t>Bottom-Center</a:t>
                      </a:r>
                    </a:p>
                  </a:txBody>
                  <a:tcPr anchor="b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latin typeface="Calibri"/>
                        </a:rPr>
                        <a:t>Bottom-Right</a:t>
                      </a:r>
                    </a:p>
                  </a:txBody>
                  <a:tcPr anchor="b"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4: Alternating Row Colors (Banded Rows)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91440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62865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Start Date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Salary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001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Alice Johnson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2021-03-15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$95,000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002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Bob Smith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2020-07-22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$72,000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003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Carol Williams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2022-01-10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$88,000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004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David Brown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2019-11-05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$110,000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005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Eve Davis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HR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2023-06-18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$65,000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006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Frank Miller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2021-09-01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$92,000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007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Grace Wilson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2022-04-12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$78,000</a:t>
                      </a:r>
                    </a:p>
                  </a:txBody>
                  <a:tcPr>
                    <a:solidFill>
                      <a:srgbClr val="ECF0F1"/>
                    </a:solidFill>
                    <a:lnL w="12700">
                      <a:solidFill>
                        <a:srgbClr val="BDC3C7"/>
                      </a:solidFill>
                    </a:lnL>
                    <a:lnR w="12700">
                      <a:solidFill>
                        <a:srgbClr val="BDC3C7"/>
                      </a:solidFill>
                    </a:lnR>
                    <a:lnT w="12700">
                      <a:solidFill>
                        <a:srgbClr val="BDC3C7"/>
                      </a:solidFill>
                    </a:lnT>
                    <a:lnB w="12700">
                      <a:solidFill>
                        <a:srgbClr val="BDC3C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Calibri"/>
              </a:rPr>
              <a:t>Slide 5: Rich Text Formatting in Table Cells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914400"/>
          <a:ext cx="105156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1645920">
                <a:tc>
                  <a:txBody>
                    <a:bodyPr wrap="square"/>
                    <a:lstStyle/>
                    <a:p>
                      <a:r>
                        <a:rPr b="1" sz="1200">
                          <a:latin typeface="Calibri"/>
                        </a:rPr>
                        <a:t>Bold text </a:t>
                      </a:r>
                      <a:r>
                        <a:rPr i="1" sz="1200">
                          <a:latin typeface="Calibri"/>
                        </a:rPr>
                        <a:t>and italic text </a:t>
                      </a:r>
                      <a:r>
                        <a:rPr b="1" i="1" sz="1200">
                          <a:latin typeface="Calibri"/>
                        </a:rPr>
                        <a:t>and bold italic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latin typeface="Calibri"/>
                        </a:rPr>
                        <a:t>8pt </a:t>
                      </a:r>
                      <a:r>
                        <a:rPr sz="1000">
                          <a:latin typeface="Calibri"/>
                        </a:rPr>
                        <a:t>10pt </a:t>
                      </a:r>
                      <a:r>
                        <a:rPr sz="1200">
                          <a:latin typeface="Calibri"/>
                        </a:rPr>
                        <a:t>12pt </a:t>
                      </a:r>
                      <a:r>
                        <a:rPr sz="1600">
                          <a:latin typeface="Calibri"/>
                        </a:rPr>
                        <a:t>16pt </a:t>
                      </a:r>
                      <a:r>
                        <a:rPr sz="2000">
                          <a:latin typeface="Calibri"/>
                        </a:rPr>
                        <a:t>20pt 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0000"/>
                          </a:solidFill>
                          <a:latin typeface="Calibri"/>
                        </a:rPr>
                        <a:t>Red </a:t>
                      </a:r>
                      <a:r>
                        <a:rPr sz="1400" b="1">
                          <a:solidFill>
                            <a:srgbClr val="008000"/>
                          </a:solidFill>
                          <a:latin typeface="Calibri"/>
                        </a:rPr>
                        <a:t>Green </a:t>
                      </a:r>
                      <a:r>
                        <a:rPr sz="1400" b="1">
                          <a:solidFill>
                            <a:srgbClr val="0000FF"/>
                          </a:solidFill>
                          <a:latin typeface="Calibri"/>
                        </a:rPr>
                        <a:t>Blue </a:t>
                      </a:r>
                      <a:r>
                        <a:rPr sz="1400" b="1">
                          <a:solidFill>
                            <a:srgbClr val="FFA500"/>
                          </a:solidFill>
                          <a:latin typeface="Calibri"/>
                        </a:rPr>
                        <a:t>Orange </a:t>
                      </a:r>
                      <a:r>
                        <a:rPr sz="1400" b="1">
                          <a:solidFill>
                            <a:srgbClr val="800080"/>
                          </a:solidFill>
                          <a:latin typeface="Calibri"/>
                        </a:rPr>
                        <a:t>Purple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r>
                        <a:rPr sz="1200" b="1">
                          <a:latin typeface="Calibri"/>
                        </a:rPr>
                        <a:t>First paragraph</a:t>
                      </a:r>
                    </a:p>
                    <a:p>
                      <a:r>
                        <a:rPr sz="1100">
                          <a:latin typeface="Calibri"/>
                        </a:rPr>
                        <a:t>Second paragraph with normal text</a:t>
                      </a:r>
                    </a:p>
                    <a:p>
                      <a:r>
                        <a:rPr sz="1100" i="1">
                          <a:latin typeface="Calibri"/>
                        </a:rPr>
                        <a:t>Third paragraph in italics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u="sng">
                          <a:latin typeface="Calibri"/>
                        </a:rPr>
                        <a:t>Underlined text</a:t>
                      </a:r>
                    </a:p>
                    <a:p>
                      <a:r>
                        <a:rPr sz="1200" b="1" u="sng">
                          <a:latin typeface="Calibri"/>
                        </a:rPr>
                        <a:t>Bold underlined</a:t>
                      </a:r>
                    </a:p>
                    <a:p>
                      <a:r>
                        <a:rPr sz="1200">
                          <a:latin typeface="Calibri"/>
                        </a:rPr>
                        <a:t>Normal after underline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latin typeface="Calibri"/>
                        </a:rPr>
                        <a:t>Calibri </a:t>
                      </a:r>
                      <a:r>
                        <a:rPr sz="1200">
                          <a:latin typeface="Arial"/>
                        </a:rPr>
                        <a:t>Arial </a:t>
                      </a:r>
                      <a:r>
                        <a:rPr sz="1200">
                          <a:latin typeface="Courier New"/>
                        </a:rPr>
                        <a:t>Courier 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• First item</a:t>
                      </a:r>
                    </a:p>
                    <a:p>
                      <a:r>
                        <a:rPr sz="1100">
                          <a:latin typeface="Calibri"/>
                        </a:rPr>
                        <a:t>• Second item</a:t>
                      </a:r>
                    </a:p>
                    <a:p>
                      <a:r>
                        <a:rPr sz="1100">
                          <a:latin typeface="Calibri"/>
                        </a:rPr>
                        <a:t>• Third item</a:t>
                      </a:r>
                    </a:p>
                    <a:p>
                      <a:r>
                        <a:rPr sz="1100">
                          <a:latin typeface="Calibri"/>
                        </a:rPr>
                        <a:t>• Fourth item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1. Step number 1</a:t>
                      </a:r>
                    </a:p>
                    <a:p>
                      <a:r>
                        <a:rPr sz="1100">
                          <a:latin typeface="Calibri"/>
                        </a:rPr>
                        <a:t>2. Step number 2</a:t>
                      </a:r>
                    </a:p>
                    <a:p>
                      <a:r>
                        <a:rPr sz="1100">
                          <a:latin typeface="Calibri"/>
                        </a:rPr>
                        <a:t>3. Step number 3</a:t>
                      </a:r>
                    </a:p>
                    <a:p>
                      <a:r>
                        <a:rPr sz="1100">
                          <a:latin typeface="Calibri"/>
                        </a:rPr>
                        <a:t>4. Step number 4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This cell contains a longer passage of text that should wrap within the cell boundaries. It tests how the renderer handles text overflow and word wrapping inside table cells.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</a:lnL>
                    <a:lnR w="12700">
                      <a:solidFill>
                        <a:srgbClr val="666666"/>
                      </a:solidFill>
                    </a:lnR>
                    <a:lnT w="12700">
                      <a:solidFill>
                        <a:srgbClr val="666666"/>
                      </a:solidFill>
                    </a:lnT>
                    <a:lnB w="12700">
                      <a:solidFill>
                        <a:srgbClr val="666666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