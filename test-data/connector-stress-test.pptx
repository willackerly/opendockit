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1: Straight Connectors with Arrow Styles</a:t>
            </a:r>
          </a:p>
        </p:txBody>
      </p:sp>
      <p:sp>
        <p:nvSpPr>
          <p:cNvPr id="3" name="Oval 2"/>
          <p:cNvSpPr/>
          <p:nvPr/>
        </p:nvSpPr>
        <p:spPr>
          <a:xfrm>
            <a:off x="695520" y="87840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07200" y="225000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4"/>
          <p:cNvCxnSpPr/>
          <p:nvPr/>
        </p:nvCxnSpPr>
        <p:spPr>
          <a:xfrm>
            <a:off x="731520" y="914400"/>
            <a:ext cx="2011680" cy="1371600"/>
          </a:xfrm>
          <a:prstGeom prst="line">
            <a:avLst/>
          </a:prstGeom>
          <a:ln w="25400">
            <a:solidFill>
              <a:srgbClr val="4472C4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No arrows</a:t>
            </a:r>
          </a:p>
        </p:txBody>
      </p:sp>
      <p:sp>
        <p:nvSpPr>
          <p:cNvPr id="106" name="Oval 105"/>
          <p:cNvSpPr/>
          <p:nvPr/>
        </p:nvSpPr>
        <p:spPr>
          <a:xfrm>
            <a:off x="3621600" y="87840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633280" y="225000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8"/>
          <p:cNvCxnSpPr/>
          <p:nvPr/>
        </p:nvCxnSpPr>
        <p:spPr>
          <a:xfrm>
            <a:off x="3657600" y="914400"/>
            <a:ext cx="2011680" cy="1371600"/>
          </a:xfrm>
          <a:prstGeom prst="line">
            <a:avLst/>
          </a:prstGeom>
          <a:ln w="25400">
            <a:solidFill>
              <a:srgbClr val="4472C4"/>
            </a:solidFill>
            <a:tailEnd type="arrow" w="med" len="med"/>
          </a:ln>
        </p:spPr>
      </p:cxnSp>
      <p:sp>
        <p:nvSpPr>
          <p:cNvPr id="109" name="TextBox 108"/>
          <p:cNvSpPr txBox="1"/>
          <p:nvPr/>
        </p:nvSpPr>
        <p:spPr>
          <a:xfrm>
            <a:off x="36576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Arrow at end</a:t>
            </a:r>
          </a:p>
        </p:txBody>
      </p:sp>
      <p:sp>
        <p:nvSpPr>
          <p:cNvPr id="110" name="Oval 109"/>
          <p:cNvSpPr/>
          <p:nvPr/>
        </p:nvSpPr>
        <p:spPr>
          <a:xfrm>
            <a:off x="6547680" y="87840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559360" y="225000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2"/>
          <p:cNvCxnSpPr/>
          <p:nvPr/>
        </p:nvCxnSpPr>
        <p:spPr>
          <a:xfrm>
            <a:off x="6583680" y="914400"/>
            <a:ext cx="2011680" cy="1371600"/>
          </a:xfrm>
          <a:prstGeom prst="line">
            <a:avLst/>
          </a:prstGeom>
          <a:ln w="25400">
            <a:solidFill>
              <a:srgbClr val="4472C4"/>
            </a:solidFill>
            <a:headEnd type="arrow" w="med" len="med"/>
          </a:ln>
        </p:spPr>
      </p:cxnSp>
      <p:sp>
        <p:nvSpPr>
          <p:cNvPr id="113" name="TextBox 112"/>
          <p:cNvSpPr txBox="1"/>
          <p:nvPr/>
        </p:nvSpPr>
        <p:spPr>
          <a:xfrm>
            <a:off x="65836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Arrow at start</a:t>
            </a:r>
          </a:p>
        </p:txBody>
      </p:sp>
      <p:sp>
        <p:nvSpPr>
          <p:cNvPr id="114" name="Oval 113"/>
          <p:cNvSpPr/>
          <p:nvPr/>
        </p:nvSpPr>
        <p:spPr>
          <a:xfrm>
            <a:off x="9473760" y="87840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485440" y="225000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6"/>
          <p:cNvCxnSpPr/>
          <p:nvPr/>
        </p:nvCxnSpPr>
        <p:spPr>
          <a:xfrm>
            <a:off x="9509760" y="914400"/>
            <a:ext cx="2011680" cy="1371600"/>
          </a:xfrm>
          <a:prstGeom prst="line">
            <a:avLst/>
          </a:prstGeom>
          <a:ln w="25400">
            <a:solidFill>
              <a:srgbClr val="4472C4"/>
            </a:solidFill>
            <a:headEnd type="arrow" w="med" len="med"/>
            <a:tailEnd type="arrow" w="med" len="med"/>
          </a:ln>
        </p:spPr>
      </p:cxnSp>
      <p:sp>
        <p:nvSpPr>
          <p:cNvPr id="117" name="TextBox 116"/>
          <p:cNvSpPr txBox="1"/>
          <p:nvPr/>
        </p:nvSpPr>
        <p:spPr>
          <a:xfrm>
            <a:off x="950976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Arrows both ends</a:t>
            </a:r>
          </a:p>
        </p:txBody>
      </p:sp>
      <p:sp>
        <p:nvSpPr>
          <p:cNvPr id="118" name="Oval 117"/>
          <p:cNvSpPr/>
          <p:nvPr/>
        </p:nvSpPr>
        <p:spPr>
          <a:xfrm>
            <a:off x="695520" y="380448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07200" y="517608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20"/>
          <p:cNvCxnSpPr/>
          <p:nvPr/>
        </p:nvCxnSpPr>
        <p:spPr>
          <a:xfrm>
            <a:off x="731520" y="3840480"/>
            <a:ext cx="2011680" cy="1371600"/>
          </a:xfrm>
          <a:prstGeom prst="line">
            <a:avLst/>
          </a:prstGeom>
          <a:ln w="25400">
            <a:solidFill>
              <a:srgbClr val="4472C4"/>
            </a:solidFill>
            <a:tailEnd type="triangle" w="med" len="med"/>
          </a:ln>
        </p:spPr>
      </p:cxnSp>
      <p:sp>
        <p:nvSpPr>
          <p:cNvPr id="121" name="TextBox 120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Triangle end</a:t>
            </a:r>
          </a:p>
        </p:txBody>
      </p:sp>
      <p:sp>
        <p:nvSpPr>
          <p:cNvPr id="122" name="Oval 121"/>
          <p:cNvSpPr/>
          <p:nvPr/>
        </p:nvSpPr>
        <p:spPr>
          <a:xfrm>
            <a:off x="3621600" y="380448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633280" y="517608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24"/>
          <p:cNvCxnSpPr/>
          <p:nvPr/>
        </p:nvCxnSpPr>
        <p:spPr>
          <a:xfrm>
            <a:off x="3657600" y="3840480"/>
            <a:ext cx="2011680" cy="1371600"/>
          </a:xfrm>
          <a:prstGeom prst="line">
            <a:avLst/>
          </a:prstGeom>
          <a:ln w="25400">
            <a:solidFill>
              <a:srgbClr val="4472C4"/>
            </a:solidFill>
            <a:tailEnd type="stealth" w="med" len="med"/>
          </a:ln>
        </p:spPr>
      </p:cxnSp>
      <p:sp>
        <p:nvSpPr>
          <p:cNvPr id="125" name="TextBox 124"/>
          <p:cNvSpPr txBox="1"/>
          <p:nvPr/>
        </p:nvSpPr>
        <p:spPr>
          <a:xfrm>
            <a:off x="365760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Stealth end</a:t>
            </a:r>
          </a:p>
        </p:txBody>
      </p:sp>
      <p:sp>
        <p:nvSpPr>
          <p:cNvPr id="126" name="Oval 125"/>
          <p:cNvSpPr/>
          <p:nvPr/>
        </p:nvSpPr>
        <p:spPr>
          <a:xfrm>
            <a:off x="6547680" y="380448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59360" y="517608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28"/>
          <p:cNvCxnSpPr/>
          <p:nvPr/>
        </p:nvCxnSpPr>
        <p:spPr>
          <a:xfrm>
            <a:off x="6583680" y="3840480"/>
            <a:ext cx="2011680" cy="1371600"/>
          </a:xfrm>
          <a:prstGeom prst="line">
            <a:avLst/>
          </a:prstGeom>
          <a:ln w="25400">
            <a:solidFill>
              <a:srgbClr val="4472C4"/>
            </a:solidFill>
            <a:tailEnd type="diamond" w="med" len="med"/>
          </a:ln>
        </p:spPr>
      </p:cxnSp>
      <p:sp>
        <p:nvSpPr>
          <p:cNvPr id="129" name="TextBox 128"/>
          <p:cNvSpPr txBox="1"/>
          <p:nvPr/>
        </p:nvSpPr>
        <p:spPr>
          <a:xfrm>
            <a:off x="658368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Diamond end</a:t>
            </a:r>
          </a:p>
        </p:txBody>
      </p:sp>
      <p:sp>
        <p:nvSpPr>
          <p:cNvPr id="130" name="Oval 129"/>
          <p:cNvSpPr/>
          <p:nvPr/>
        </p:nvSpPr>
        <p:spPr>
          <a:xfrm>
            <a:off x="9473760" y="380448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485440" y="5176080"/>
            <a:ext cx="72000" cy="72000"/>
          </a:xfrm>
          <a:prstGeom prst="ellipse">
            <a:avLst/>
          </a:prstGeom>
          <a:solidFill>
            <a:srgbClr val="99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32"/>
          <p:cNvCxnSpPr/>
          <p:nvPr/>
        </p:nvCxnSpPr>
        <p:spPr>
          <a:xfrm>
            <a:off x="9509760" y="3840480"/>
            <a:ext cx="2011680" cy="1371600"/>
          </a:xfrm>
          <a:prstGeom prst="line">
            <a:avLst/>
          </a:prstGeom>
          <a:ln w="25400">
            <a:solidFill>
              <a:srgbClr val="4472C4"/>
            </a:solidFill>
            <a:tailEnd type="oval" w="med" len="med"/>
          </a:ln>
        </p:spPr>
      </p:cxnSp>
      <p:sp>
        <p:nvSpPr>
          <p:cNvPr id="133" name="TextBox 132"/>
          <p:cNvSpPr txBox="1"/>
          <p:nvPr/>
        </p:nvSpPr>
        <p:spPr>
          <a:xfrm>
            <a:off x="950976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Oval 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2: Bent (Elbow) Connectors</a:t>
            </a:r>
          </a:p>
        </p:txBody>
      </p:sp>
      <p:sp>
        <p:nvSpPr>
          <p:cNvPr id="3" name="Oval 2"/>
          <p:cNvSpPr/>
          <p:nvPr/>
        </p:nvSpPr>
        <p:spPr>
          <a:xfrm>
            <a:off x="695520" y="1061280"/>
            <a:ext cx="72000" cy="720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21600" y="2707200"/>
            <a:ext cx="72000" cy="720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4"/>
          <p:cNvCxnSpPr/>
          <p:nvPr/>
        </p:nvCxnSpPr>
        <p:spPr>
          <a:xfrm>
            <a:off x="731520" y="1097280"/>
            <a:ext cx="2926080" cy="1645920"/>
          </a:xfrm>
          <a:prstGeom prst="bentConnector3">
            <a:avLst/>
          </a:prstGeom>
          <a:ln w="25400">
            <a:solidFill>
              <a:srgbClr val="4472C4"/>
            </a:solidFill>
            <a:tailEnd type="arrow" w="med" len="med"/>
          </a:ln>
        </p:spPr>
      </p:cxnSp>
      <p:sp>
        <p:nvSpPr>
          <p:cNvPr id="105" name="TextBox 104"/>
          <p:cNvSpPr txBox="1"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Horizontal to vertical</a:t>
            </a:r>
          </a:p>
        </p:txBody>
      </p:sp>
      <p:sp>
        <p:nvSpPr>
          <p:cNvPr id="106" name="Oval 105"/>
          <p:cNvSpPr/>
          <p:nvPr/>
        </p:nvSpPr>
        <p:spPr>
          <a:xfrm>
            <a:off x="4536000" y="1061280"/>
            <a:ext cx="72000" cy="720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279200" y="3164400"/>
            <a:ext cx="72000" cy="720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8"/>
          <p:cNvCxnSpPr/>
          <p:nvPr/>
        </p:nvCxnSpPr>
        <p:spPr>
          <a:xfrm>
            <a:off x="4572000" y="1097280"/>
            <a:ext cx="2743200" cy="2103120"/>
          </a:xfrm>
          <a:prstGeom prst="bentConnector3">
            <a:avLst/>
          </a:prstGeom>
          <a:ln w="25400">
            <a:solidFill>
              <a:srgbClr val="ED7D31"/>
            </a:solidFill>
            <a:tailEnd type="arrow" w="med" len="med"/>
          </a:ln>
        </p:spPr>
      </p:cxnSp>
      <p:sp>
        <p:nvSpPr>
          <p:cNvPr id="109" name="TextBox 108"/>
          <p:cNvSpPr txBox="1"/>
          <p:nvPr/>
        </p:nvSpPr>
        <p:spPr>
          <a:xfrm>
            <a:off x="457200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Vertical to horizontal</a:t>
            </a:r>
          </a:p>
        </p:txBody>
      </p:sp>
      <p:sp>
        <p:nvSpPr>
          <p:cNvPr id="110" name="Oval 109"/>
          <p:cNvSpPr/>
          <p:nvPr/>
        </p:nvSpPr>
        <p:spPr>
          <a:xfrm>
            <a:off x="8193600" y="1061280"/>
            <a:ext cx="72000" cy="720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479600" y="1792800"/>
            <a:ext cx="72000" cy="720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2"/>
          <p:cNvCxnSpPr/>
          <p:nvPr/>
        </p:nvCxnSpPr>
        <p:spPr>
          <a:xfrm>
            <a:off x="8229600" y="1097280"/>
            <a:ext cx="2286000" cy="731520"/>
          </a:xfrm>
          <a:prstGeom prst="bentConnector3">
            <a:avLst/>
          </a:prstGeom>
          <a:ln w="25400">
            <a:solidFill>
              <a:srgbClr val="70AD47"/>
            </a:solidFill>
            <a:tailEnd type="arrow" w="med" len="med"/>
          </a:ln>
        </p:spPr>
      </p:cxnSp>
      <p:sp>
        <p:nvSpPr>
          <p:cNvPr id="113" name="TextBox 112"/>
          <p:cNvSpPr txBox="1"/>
          <p:nvPr/>
        </p:nvSpPr>
        <p:spPr>
          <a:xfrm>
            <a:off x="82296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Short bend</a:t>
            </a:r>
          </a:p>
        </p:txBody>
      </p:sp>
      <p:sp>
        <p:nvSpPr>
          <p:cNvPr id="114" name="Oval 113"/>
          <p:cNvSpPr/>
          <p:nvPr/>
        </p:nvSpPr>
        <p:spPr>
          <a:xfrm>
            <a:off x="695520" y="3621600"/>
            <a:ext cx="72000" cy="720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621600" y="5907600"/>
            <a:ext cx="72000" cy="720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6"/>
          <p:cNvCxnSpPr/>
          <p:nvPr/>
        </p:nvCxnSpPr>
        <p:spPr>
          <a:xfrm>
            <a:off x="731520" y="3657600"/>
            <a:ext cx="2926080" cy="2286000"/>
          </a:xfrm>
          <a:prstGeom prst="bentConnector3">
            <a:avLst/>
          </a:prstGeom>
          <a:ln w="25400">
            <a:solidFill>
              <a:srgbClr val="FFC000"/>
            </a:solidFill>
            <a:tailEnd type="arrow" w="med" len="med"/>
          </a:ln>
        </p:spPr>
      </p:cxnSp>
      <p:sp>
        <p:nvSpPr>
          <p:cNvPr id="117" name="TextBox 116"/>
          <p:cNvSpPr txBox="1"/>
          <p:nvPr/>
        </p:nvSpPr>
        <p:spPr>
          <a:xfrm>
            <a:off x="731520" y="6080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Long bend down</a:t>
            </a:r>
          </a:p>
        </p:txBody>
      </p:sp>
      <p:sp>
        <p:nvSpPr>
          <p:cNvPr id="118" name="Oval 117"/>
          <p:cNvSpPr/>
          <p:nvPr/>
        </p:nvSpPr>
        <p:spPr>
          <a:xfrm>
            <a:off x="4536000" y="4078800"/>
            <a:ext cx="72000" cy="72000"/>
          </a:xfrm>
          <a:prstGeom prst="ellipse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736400" y="5907600"/>
            <a:ext cx="72000" cy="72000"/>
          </a:xfrm>
          <a:prstGeom prst="ellipse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20"/>
          <p:cNvCxnSpPr/>
          <p:nvPr/>
        </p:nvCxnSpPr>
        <p:spPr>
          <a:xfrm>
            <a:off x="4572000" y="4114800"/>
            <a:ext cx="3200400" cy="1828800"/>
          </a:xfrm>
          <a:prstGeom prst="bentConnector3">
            <a:avLst/>
          </a:prstGeom>
          <a:ln w="25400">
            <a:solidFill>
              <a:srgbClr val="800080"/>
            </a:solidFill>
            <a:tailEnd type="arrow" w="med" len="med"/>
          </a:ln>
        </p:spPr>
      </p:cxnSp>
      <p:sp>
        <p:nvSpPr>
          <p:cNvPr id="121" name="TextBox 120"/>
          <p:cNvSpPr txBox="1"/>
          <p:nvPr/>
        </p:nvSpPr>
        <p:spPr>
          <a:xfrm>
            <a:off x="4572000" y="6080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Long bend right</a:t>
            </a:r>
          </a:p>
        </p:txBody>
      </p:sp>
      <p:sp>
        <p:nvSpPr>
          <p:cNvPr id="122" name="Oval 121"/>
          <p:cNvSpPr/>
          <p:nvPr/>
        </p:nvSpPr>
        <p:spPr>
          <a:xfrm>
            <a:off x="8650800" y="3621600"/>
            <a:ext cx="72000" cy="7200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936800" y="6364800"/>
            <a:ext cx="72000" cy="7200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24"/>
          <p:cNvCxnSpPr/>
          <p:nvPr/>
        </p:nvCxnSpPr>
        <p:spPr>
          <a:xfrm>
            <a:off x="8686800" y="3657600"/>
            <a:ext cx="2286000" cy="2743200"/>
          </a:xfrm>
          <a:prstGeom prst="bentConnector3">
            <a:avLst/>
          </a:prstGeom>
          <a:ln w="25400">
            <a:solidFill>
              <a:srgbClr val="C00000"/>
            </a:solidFill>
            <a:tailEnd type="arrow" w="med" len="med"/>
          </a:ln>
        </p:spPr>
      </p:cxnSp>
      <p:sp>
        <p:nvSpPr>
          <p:cNvPr id="125" name="TextBox 124"/>
          <p:cNvSpPr txBox="1"/>
          <p:nvPr/>
        </p:nvSpPr>
        <p:spPr>
          <a:xfrm>
            <a:off x="86868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Steep bend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3: Curved Connectors</a:t>
            </a:r>
          </a:p>
        </p:txBody>
      </p:sp>
      <p:sp>
        <p:nvSpPr>
          <p:cNvPr id="3" name="Oval 2"/>
          <p:cNvSpPr/>
          <p:nvPr/>
        </p:nvSpPr>
        <p:spPr>
          <a:xfrm>
            <a:off x="695520" y="1061280"/>
            <a:ext cx="72000" cy="720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21600" y="2707200"/>
            <a:ext cx="72000" cy="720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4"/>
          <p:cNvCxnSpPr/>
          <p:nvPr/>
        </p:nvCxnSpPr>
        <p:spPr>
          <a:xfrm>
            <a:off x="731520" y="1097280"/>
            <a:ext cx="2926080" cy="1645920"/>
          </a:xfrm>
          <a:prstGeom prst="curvedConnector3">
            <a:avLst/>
          </a:prstGeom>
          <a:ln w="25400">
            <a:solidFill>
              <a:srgbClr val="4472C4"/>
            </a:solidFill>
            <a:tailEnd type="arrow" w="med" len="med"/>
          </a:ln>
        </p:spPr>
      </p:cxnSp>
      <p:sp>
        <p:nvSpPr>
          <p:cNvPr id="105" name="TextBox 104"/>
          <p:cNvSpPr txBox="1"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Gentle curve</a:t>
            </a:r>
          </a:p>
        </p:txBody>
      </p:sp>
      <p:sp>
        <p:nvSpPr>
          <p:cNvPr id="106" name="Oval 105"/>
          <p:cNvSpPr/>
          <p:nvPr/>
        </p:nvSpPr>
        <p:spPr>
          <a:xfrm>
            <a:off x="4536000" y="878400"/>
            <a:ext cx="72000" cy="720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279200" y="3164400"/>
            <a:ext cx="72000" cy="720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8"/>
          <p:cNvCxnSpPr/>
          <p:nvPr/>
        </p:nvCxnSpPr>
        <p:spPr>
          <a:xfrm>
            <a:off x="4572000" y="914400"/>
            <a:ext cx="2743200" cy="2286000"/>
          </a:xfrm>
          <a:prstGeom prst="curvedConnector3">
            <a:avLst/>
          </a:prstGeom>
          <a:ln w="25400">
            <a:solidFill>
              <a:srgbClr val="ED7D31"/>
            </a:solidFill>
            <a:tailEnd type="arrow" w="med" len="med"/>
          </a:ln>
        </p:spPr>
      </p:cxnSp>
      <p:sp>
        <p:nvSpPr>
          <p:cNvPr id="109" name="TextBox 108"/>
          <p:cNvSpPr txBox="1"/>
          <p:nvPr/>
        </p:nvSpPr>
        <p:spPr>
          <a:xfrm>
            <a:off x="457200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S-curve tall</a:t>
            </a:r>
          </a:p>
        </p:txBody>
      </p:sp>
      <p:sp>
        <p:nvSpPr>
          <p:cNvPr id="110" name="Oval 109"/>
          <p:cNvSpPr/>
          <p:nvPr/>
        </p:nvSpPr>
        <p:spPr>
          <a:xfrm>
            <a:off x="8193600" y="1061280"/>
            <a:ext cx="72000" cy="720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394000" y="2250000"/>
            <a:ext cx="72000" cy="720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2"/>
          <p:cNvCxnSpPr/>
          <p:nvPr/>
        </p:nvCxnSpPr>
        <p:spPr>
          <a:xfrm>
            <a:off x="8229600" y="1097280"/>
            <a:ext cx="3200400" cy="1188720"/>
          </a:xfrm>
          <a:prstGeom prst="curvedConnector3">
            <a:avLst/>
          </a:prstGeom>
          <a:ln w="25400">
            <a:solidFill>
              <a:srgbClr val="70AD47"/>
            </a:solidFill>
            <a:tailEnd type="arrow" w="med" len="med"/>
          </a:ln>
        </p:spPr>
      </p:cxnSp>
      <p:sp>
        <p:nvSpPr>
          <p:cNvPr id="113" name="TextBox 112"/>
          <p:cNvSpPr txBox="1"/>
          <p:nvPr/>
        </p:nvSpPr>
        <p:spPr>
          <a:xfrm>
            <a:off x="822960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Wide curve</a:t>
            </a:r>
          </a:p>
        </p:txBody>
      </p:sp>
      <p:sp>
        <p:nvSpPr>
          <p:cNvPr id="114" name="Oval 113"/>
          <p:cNvSpPr/>
          <p:nvPr/>
        </p:nvSpPr>
        <p:spPr>
          <a:xfrm>
            <a:off x="695520" y="3621600"/>
            <a:ext cx="72000" cy="720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621600" y="5907600"/>
            <a:ext cx="72000" cy="720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6"/>
          <p:cNvCxnSpPr/>
          <p:nvPr/>
        </p:nvCxnSpPr>
        <p:spPr>
          <a:xfrm>
            <a:off x="731520" y="3657600"/>
            <a:ext cx="2926080" cy="2286000"/>
          </a:xfrm>
          <a:prstGeom prst="curvedConnector3">
            <a:avLst/>
          </a:prstGeom>
          <a:ln w="25400">
            <a:solidFill>
              <a:srgbClr val="FFC000"/>
            </a:solidFill>
            <a:tailEnd type="arrow" w="med" len="med"/>
          </a:ln>
        </p:spPr>
      </p:cxnSp>
      <p:sp>
        <p:nvSpPr>
          <p:cNvPr id="117" name="TextBox 116"/>
          <p:cNvSpPr txBox="1"/>
          <p:nvPr/>
        </p:nvSpPr>
        <p:spPr>
          <a:xfrm>
            <a:off x="731520" y="6080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Downward curve</a:t>
            </a:r>
          </a:p>
        </p:txBody>
      </p:sp>
      <p:sp>
        <p:nvSpPr>
          <p:cNvPr id="118" name="Oval 117"/>
          <p:cNvSpPr/>
          <p:nvPr/>
        </p:nvSpPr>
        <p:spPr>
          <a:xfrm>
            <a:off x="4536000" y="3621600"/>
            <a:ext cx="72000" cy="72000"/>
          </a:xfrm>
          <a:prstGeom prst="ellipse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279200" y="6364800"/>
            <a:ext cx="72000" cy="72000"/>
          </a:xfrm>
          <a:prstGeom prst="ellipse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20"/>
          <p:cNvCxnSpPr/>
          <p:nvPr/>
        </p:nvCxnSpPr>
        <p:spPr>
          <a:xfrm>
            <a:off x="4572000" y="3657600"/>
            <a:ext cx="2743200" cy="2743200"/>
          </a:xfrm>
          <a:prstGeom prst="curvedConnector3">
            <a:avLst/>
          </a:prstGeom>
          <a:ln w="25400">
            <a:solidFill>
              <a:srgbClr val="800080"/>
            </a:solidFill>
            <a:tailEnd type="arrow" w="med" len="med"/>
          </a:ln>
        </p:spPr>
      </p:cxnSp>
      <p:sp>
        <p:nvSpPr>
          <p:cNvPr id="121" name="TextBox 120"/>
          <p:cNvSpPr txBox="1"/>
          <p:nvPr/>
        </p:nvSpPr>
        <p:spPr>
          <a:xfrm>
            <a:off x="4572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Steep curve</a:t>
            </a:r>
          </a:p>
        </p:txBody>
      </p:sp>
      <p:sp>
        <p:nvSpPr>
          <p:cNvPr id="122" name="Oval 121"/>
          <p:cNvSpPr/>
          <p:nvPr/>
        </p:nvSpPr>
        <p:spPr>
          <a:xfrm>
            <a:off x="8650800" y="4078800"/>
            <a:ext cx="72000" cy="7200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936800" y="5450400"/>
            <a:ext cx="72000" cy="7200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24"/>
          <p:cNvCxnSpPr/>
          <p:nvPr/>
        </p:nvCxnSpPr>
        <p:spPr>
          <a:xfrm>
            <a:off x="8686800" y="4114800"/>
            <a:ext cx="2286000" cy="1371600"/>
          </a:xfrm>
          <a:prstGeom prst="curvedConnector3">
            <a:avLst/>
          </a:prstGeom>
          <a:ln w="25400">
            <a:solidFill>
              <a:srgbClr val="C00000"/>
            </a:solidFill>
            <a:tailEnd type="arrow" w="med" len="med"/>
          </a:ln>
        </p:spPr>
      </p:cxnSp>
      <p:sp>
        <p:nvSpPr>
          <p:cNvPr id="125" name="TextBox 124"/>
          <p:cNvSpPr txBox="1"/>
          <p:nvPr/>
        </p:nvSpPr>
        <p:spPr>
          <a:xfrm>
            <a:off x="868680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Short curve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4: Connector Line Styles</a:t>
            </a:r>
          </a:p>
        </p:txBody>
      </p:sp>
      <p:cxnSp>
        <p:nvCxnSpPr>
          <p:cNvPr id="102" name="Connector 2"/>
          <p:cNvCxnSpPr/>
          <p:nvPr/>
        </p:nvCxnSpPr>
        <p:spPr>
          <a:xfrm>
            <a:off x="731520" y="914400"/>
            <a:ext cx="4572000" cy="1"/>
          </a:xfrm>
          <a:prstGeom prst="line">
            <a:avLst/>
          </a:prstGeom>
          <a:ln w="25400">
            <a:solidFill>
              <a:srgbClr val="333333"/>
            </a:solidFill>
            <a:tailEnd type="arrow" w="med" len="med"/>
          </a:ln>
        </p:spPr>
      </p:cxnSp>
      <p:sp>
        <p:nvSpPr>
          <p:cNvPr id="103" name="TextBox 102"/>
          <p:cNvSpPr txBox="1"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Solid</a:t>
            </a:r>
          </a:p>
        </p:txBody>
      </p:sp>
      <p:cxnSp>
        <p:nvCxnSpPr>
          <p:cNvPr id="104" name="Connector 4"/>
          <p:cNvCxnSpPr/>
          <p:nvPr/>
        </p:nvCxnSpPr>
        <p:spPr>
          <a:xfrm>
            <a:off x="6675120" y="914400"/>
            <a:ext cx="4572000" cy="1"/>
          </a:xfrm>
          <a:prstGeom prst="line">
            <a:avLst/>
          </a:prstGeom>
          <a:ln w="25400">
            <a:solidFill>
              <a:srgbClr val="333333"/>
            </a:solidFill>
            <a:prstDash val="dash"/>
            <a:tailEnd type="arrow" w="med" len="med"/>
          </a:ln>
        </p:spPr>
      </p:cxnSp>
      <p:sp>
        <p:nvSpPr>
          <p:cNvPr id="105" name="TextBox 104"/>
          <p:cNvSpPr txBox="1"/>
          <p:nvPr/>
        </p:nvSpPr>
        <p:spPr>
          <a:xfrm>
            <a:off x="66751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Dash</a:t>
            </a:r>
          </a:p>
        </p:txBody>
      </p:sp>
      <p:cxnSp>
        <p:nvCxnSpPr>
          <p:cNvPr id="106" name="Connector 6"/>
          <p:cNvCxnSpPr/>
          <p:nvPr/>
        </p:nvCxnSpPr>
        <p:spPr>
          <a:xfrm>
            <a:off x="731520" y="2286000"/>
            <a:ext cx="4572000" cy="1"/>
          </a:xfrm>
          <a:prstGeom prst="line">
            <a:avLst/>
          </a:prstGeom>
          <a:ln w="25400">
            <a:solidFill>
              <a:srgbClr val="333333"/>
            </a:solidFill>
            <a:prstDash val="dot"/>
            <a:tailEnd type="arrow" w="med" len="med"/>
          </a:ln>
        </p:spPr>
      </p:cxnSp>
      <p:sp>
        <p:nvSpPr>
          <p:cNvPr id="107" name="TextBox 106"/>
          <p:cNvSpPr txBox="1"/>
          <p:nvPr/>
        </p:nvSpPr>
        <p:spPr>
          <a:xfrm>
            <a:off x="73152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Dot</a:t>
            </a:r>
          </a:p>
        </p:txBody>
      </p:sp>
      <p:cxnSp>
        <p:nvCxnSpPr>
          <p:cNvPr id="108" name="Connector 8"/>
          <p:cNvCxnSpPr/>
          <p:nvPr/>
        </p:nvCxnSpPr>
        <p:spPr>
          <a:xfrm>
            <a:off x="6675120" y="2286000"/>
            <a:ext cx="4572000" cy="1"/>
          </a:xfrm>
          <a:prstGeom prst="line">
            <a:avLst/>
          </a:prstGeom>
          <a:ln w="25400">
            <a:solidFill>
              <a:srgbClr val="333333"/>
            </a:solidFill>
            <a:prstDash val="dashDot"/>
            <a:tailEnd type="arrow" w="med" len="med"/>
          </a:ln>
        </p:spPr>
      </p:cxnSp>
      <p:sp>
        <p:nvSpPr>
          <p:cNvPr id="109" name="TextBox 108"/>
          <p:cNvSpPr txBox="1"/>
          <p:nvPr/>
        </p:nvSpPr>
        <p:spPr>
          <a:xfrm>
            <a:off x="667512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Dash-Dot</a:t>
            </a:r>
          </a:p>
        </p:txBody>
      </p:sp>
      <p:cxnSp>
        <p:nvCxnSpPr>
          <p:cNvPr id="110" name="Connector 10"/>
          <p:cNvCxnSpPr/>
          <p:nvPr/>
        </p:nvCxnSpPr>
        <p:spPr>
          <a:xfrm>
            <a:off x="731520" y="3657600"/>
            <a:ext cx="4572000" cy="1"/>
          </a:xfrm>
          <a:prstGeom prst="line">
            <a:avLst/>
          </a:prstGeom>
          <a:ln w="25400">
            <a:solidFill>
              <a:srgbClr val="333333"/>
            </a:solidFill>
            <a:prstDash val="lgDash"/>
            <a:tailEnd type="arrow" w="med" len="med"/>
          </a:ln>
        </p:spPr>
      </p:cxnSp>
      <p:sp>
        <p:nvSpPr>
          <p:cNvPr id="111" name="TextBox 110"/>
          <p:cNvSpPr txBox="1"/>
          <p:nvPr/>
        </p:nvSpPr>
        <p:spPr>
          <a:xfrm>
            <a:off x="73152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Long Dash</a:t>
            </a:r>
          </a:p>
        </p:txBody>
      </p:sp>
      <p:cxnSp>
        <p:nvCxnSpPr>
          <p:cNvPr id="112" name="Connector 12"/>
          <p:cNvCxnSpPr/>
          <p:nvPr/>
        </p:nvCxnSpPr>
        <p:spPr>
          <a:xfrm>
            <a:off x="6675120" y="3657600"/>
            <a:ext cx="4572000" cy="1"/>
          </a:xfrm>
          <a:prstGeom prst="line">
            <a:avLst/>
          </a:prstGeom>
          <a:ln w="25400">
            <a:solidFill>
              <a:srgbClr val="333333"/>
            </a:solidFill>
            <a:prstDash val="lgDashDot"/>
            <a:tailEnd type="arrow" w="med" len="med"/>
          </a:ln>
        </p:spPr>
      </p:cxnSp>
      <p:sp>
        <p:nvSpPr>
          <p:cNvPr id="113" name="TextBox 112"/>
          <p:cNvSpPr txBox="1"/>
          <p:nvPr/>
        </p:nvSpPr>
        <p:spPr>
          <a:xfrm>
            <a:off x="667512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Long Dash-Dot</a:t>
            </a:r>
          </a:p>
        </p:txBody>
      </p:sp>
      <p:cxnSp>
        <p:nvCxnSpPr>
          <p:cNvPr id="114" name="Connector 14"/>
          <p:cNvCxnSpPr/>
          <p:nvPr/>
        </p:nvCxnSpPr>
        <p:spPr>
          <a:xfrm>
            <a:off x="731520" y="5029200"/>
            <a:ext cx="4572000" cy="1"/>
          </a:xfrm>
          <a:prstGeom prst="line">
            <a:avLst/>
          </a:prstGeom>
          <a:ln w="25400">
            <a:solidFill>
              <a:srgbClr val="333333"/>
            </a:solidFill>
            <a:prstDash val="lgDashDotDot"/>
            <a:tailEnd type="arrow" w="med" len="med"/>
          </a:ln>
        </p:spPr>
      </p:cxnSp>
      <p:sp>
        <p:nvSpPr>
          <p:cNvPr id="115" name="TextBox 114"/>
          <p:cNvSpPr txBox="1"/>
          <p:nvPr/>
        </p:nvSpPr>
        <p:spPr>
          <a:xfrm>
            <a:off x="73152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Long Dash-Dot-Dot</a:t>
            </a:r>
          </a:p>
        </p:txBody>
      </p:sp>
      <p:cxnSp>
        <p:nvCxnSpPr>
          <p:cNvPr id="116" name="Connector 16"/>
          <p:cNvCxnSpPr/>
          <p:nvPr/>
        </p:nvCxnSpPr>
        <p:spPr>
          <a:xfrm>
            <a:off x="6675120" y="5029200"/>
            <a:ext cx="4572000" cy="1"/>
          </a:xfrm>
          <a:prstGeom prst="line">
            <a:avLst/>
          </a:prstGeom>
          <a:ln w="25400">
            <a:solidFill>
              <a:srgbClr val="333333"/>
            </a:solidFill>
            <a:prstDash val="sysDash"/>
            <a:tailEnd type="arrow" w="med" len="med"/>
          </a:ln>
        </p:spPr>
      </p:cxnSp>
      <p:sp>
        <p:nvSpPr>
          <p:cNvPr id="117" name="TextBox 116"/>
          <p:cNvSpPr txBox="1"/>
          <p:nvPr/>
        </p:nvSpPr>
        <p:spPr>
          <a:xfrm>
            <a:off x="667512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System Dash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3333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