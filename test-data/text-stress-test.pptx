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10972800" cy="457200"/>
          </a:xfrm>
          <a:prstGeom prst="rect">
            <a:avLst/>
          </a:prstGeom>
          <a:noFill/>
        </p:spPr>
        <p:txBody>
          <a:bodyPr wrap="square">
            <a:spAutoFit/>
          </a:bodyPr>
          <a:lstStyle/>
          <a:p>
            <a:r>
              <a:rPr sz="1800">
                <a:solidFill>
                  <a:srgbClr val="333333"/>
                </a:solidFill>
                <a:latin typeface="Calibri"/>
              </a:rPr>
              <a:t>Slide 1: Text Alignments (Left, Center, Right, Justify, Distributed)</a:t>
            </a:r>
          </a:p>
        </p:txBody>
      </p:sp>
      <p:sp>
        <p:nvSpPr>
          <p:cNvPr id="3" name="TextBox 2"/>
          <p:cNvSpPr txBox="1"/>
          <p:nvPr/>
        </p:nvSpPr>
        <p:spPr>
          <a:xfrm>
            <a:off x="274320" y="731520"/>
            <a:ext cx="2286000" cy="274320"/>
          </a:xfrm>
          <a:prstGeom prst="rect">
            <a:avLst/>
          </a:prstGeom>
          <a:noFill/>
        </p:spPr>
        <p:txBody>
          <a:bodyPr wrap="square">
            <a:spAutoFit/>
          </a:bodyPr>
          <a:lstStyle/>
          <a:p>
            <a:r>
              <a:rPr sz="1100">
                <a:solidFill>
                  <a:srgbClr val="00528A"/>
                </a:solidFill>
                <a:latin typeface="Calibri"/>
              </a:rPr>
              <a:t>Left Aligned</a:t>
            </a:r>
          </a:p>
        </p:txBody>
      </p:sp>
      <p:sp>
        <p:nvSpPr>
          <p:cNvPr id="4" name="TextBox 3"/>
          <p:cNvSpPr txBox="1"/>
          <p:nvPr/>
        </p:nvSpPr>
        <p:spPr>
          <a:xfrm>
            <a:off x="274320" y="1051560"/>
            <a:ext cx="11430000" cy="731520"/>
          </a:xfrm>
          <a:prstGeom prst="rect">
            <a:avLst/>
          </a:prstGeom>
          <a:noFill/>
          <a:ln w="6350">
            <a:solidFill>
              <a:srgbClr val="CCCCCC"/>
            </a:solidFill>
          </a:ln>
        </p:spPr>
        <p:txBody>
          <a:bodyPr wrap="square">
            <a:spAutoFit/>
          </a:bodyPr>
          <a:lstStyle/>
          <a:p>
            <a:pPr algn="l"/>
            <a:r>
              <a:rPr sz="1200">
                <a:latin typeface="Calibri"/>
              </a:rPr>
              <a:t>The quick brown fox jumps over the lazy dog. Pack my box with five dozen liquor jugs.</a:t>
            </a:r>
          </a:p>
        </p:txBody>
      </p:sp>
      <p:sp>
        <p:nvSpPr>
          <p:cNvPr id="5" name="TextBox 4"/>
          <p:cNvSpPr txBox="1"/>
          <p:nvPr/>
        </p:nvSpPr>
        <p:spPr>
          <a:xfrm>
            <a:off x="274320" y="1920240"/>
            <a:ext cx="2286000" cy="274320"/>
          </a:xfrm>
          <a:prstGeom prst="rect">
            <a:avLst/>
          </a:prstGeom>
          <a:noFill/>
        </p:spPr>
        <p:txBody>
          <a:bodyPr wrap="square">
            <a:spAutoFit/>
          </a:bodyPr>
          <a:lstStyle/>
          <a:p>
            <a:r>
              <a:rPr sz="1100">
                <a:solidFill>
                  <a:srgbClr val="00528A"/>
                </a:solidFill>
                <a:latin typeface="Calibri"/>
              </a:rPr>
              <a:t>Center Aligned</a:t>
            </a:r>
          </a:p>
        </p:txBody>
      </p:sp>
      <p:sp>
        <p:nvSpPr>
          <p:cNvPr id="6" name="TextBox 5"/>
          <p:cNvSpPr txBox="1"/>
          <p:nvPr/>
        </p:nvSpPr>
        <p:spPr>
          <a:xfrm>
            <a:off x="274320" y="2240280"/>
            <a:ext cx="11430000" cy="731520"/>
          </a:xfrm>
          <a:prstGeom prst="rect">
            <a:avLst/>
          </a:prstGeom>
          <a:noFill/>
          <a:ln w="6350">
            <a:solidFill>
              <a:srgbClr val="CCCCCC"/>
            </a:solidFill>
          </a:ln>
        </p:spPr>
        <p:txBody>
          <a:bodyPr wrap="square">
            <a:spAutoFit/>
          </a:bodyPr>
          <a:lstStyle/>
          <a:p>
            <a:pPr algn="ctr"/>
            <a:r>
              <a:rPr sz="1200">
                <a:latin typeface="Calibri"/>
              </a:rPr>
              <a:t>The quick brown fox jumps over the lazy dog. Pack my box with five dozen liquor jugs.</a:t>
            </a:r>
          </a:p>
        </p:txBody>
      </p:sp>
      <p:sp>
        <p:nvSpPr>
          <p:cNvPr id="7" name="TextBox 6"/>
          <p:cNvSpPr txBox="1"/>
          <p:nvPr/>
        </p:nvSpPr>
        <p:spPr>
          <a:xfrm>
            <a:off x="274320" y="3108960"/>
            <a:ext cx="2286000" cy="274320"/>
          </a:xfrm>
          <a:prstGeom prst="rect">
            <a:avLst/>
          </a:prstGeom>
          <a:noFill/>
        </p:spPr>
        <p:txBody>
          <a:bodyPr wrap="square">
            <a:spAutoFit/>
          </a:bodyPr>
          <a:lstStyle/>
          <a:p>
            <a:r>
              <a:rPr sz="1100">
                <a:solidFill>
                  <a:srgbClr val="00528A"/>
                </a:solidFill>
                <a:latin typeface="Calibri"/>
              </a:rPr>
              <a:t>Right Aligned</a:t>
            </a:r>
          </a:p>
        </p:txBody>
      </p:sp>
      <p:sp>
        <p:nvSpPr>
          <p:cNvPr id="8" name="TextBox 7"/>
          <p:cNvSpPr txBox="1"/>
          <p:nvPr/>
        </p:nvSpPr>
        <p:spPr>
          <a:xfrm>
            <a:off x="274320" y="3429000"/>
            <a:ext cx="11430000" cy="731520"/>
          </a:xfrm>
          <a:prstGeom prst="rect">
            <a:avLst/>
          </a:prstGeom>
          <a:noFill/>
          <a:ln w="6350">
            <a:solidFill>
              <a:srgbClr val="CCCCCC"/>
            </a:solidFill>
          </a:ln>
        </p:spPr>
        <p:txBody>
          <a:bodyPr wrap="square">
            <a:spAutoFit/>
          </a:bodyPr>
          <a:lstStyle/>
          <a:p>
            <a:pPr algn="r"/>
            <a:r>
              <a:rPr sz="1200">
                <a:latin typeface="Calibri"/>
              </a:rPr>
              <a:t>The quick brown fox jumps over the lazy dog. Pack my box with five dozen liquor jugs.</a:t>
            </a:r>
          </a:p>
        </p:txBody>
      </p:sp>
      <p:sp>
        <p:nvSpPr>
          <p:cNvPr id="9" name="TextBox 8"/>
          <p:cNvSpPr txBox="1"/>
          <p:nvPr/>
        </p:nvSpPr>
        <p:spPr>
          <a:xfrm>
            <a:off x="274320" y="4297680"/>
            <a:ext cx="2286000" cy="274320"/>
          </a:xfrm>
          <a:prstGeom prst="rect">
            <a:avLst/>
          </a:prstGeom>
          <a:noFill/>
        </p:spPr>
        <p:txBody>
          <a:bodyPr wrap="square">
            <a:spAutoFit/>
          </a:bodyPr>
          <a:lstStyle/>
          <a:p>
            <a:r>
              <a:rPr sz="1100">
                <a:solidFill>
                  <a:srgbClr val="00528A"/>
                </a:solidFill>
                <a:latin typeface="Calibri"/>
              </a:rPr>
              <a:t>Justified Text</a:t>
            </a:r>
          </a:p>
        </p:txBody>
      </p:sp>
      <p:sp>
        <p:nvSpPr>
          <p:cNvPr id="10" name="TextBox 9"/>
          <p:cNvSpPr txBox="1"/>
          <p:nvPr/>
        </p:nvSpPr>
        <p:spPr>
          <a:xfrm>
            <a:off x="274320" y="4617720"/>
            <a:ext cx="11430000" cy="731520"/>
          </a:xfrm>
          <a:prstGeom prst="rect">
            <a:avLst/>
          </a:prstGeom>
          <a:noFill/>
          <a:ln w="6350">
            <a:solidFill>
              <a:srgbClr val="CCCCCC"/>
            </a:solidFill>
          </a:ln>
        </p:spPr>
        <p:txBody>
          <a:bodyPr wrap="square">
            <a:spAutoFit/>
          </a:bodyPr>
          <a:lstStyle/>
          <a:p>
            <a:pPr algn="just"/>
            <a:r>
              <a:rPr sz="1200">
                <a:latin typeface="Calibri"/>
              </a:rPr>
              <a:t>The quick brown fox jumps over the lazy dog. Pack my box with five dozen liquor jugs.</a:t>
            </a:r>
          </a:p>
        </p:txBody>
      </p:sp>
      <p:sp>
        <p:nvSpPr>
          <p:cNvPr id="11" name="TextBox 10"/>
          <p:cNvSpPr txBox="1"/>
          <p:nvPr/>
        </p:nvSpPr>
        <p:spPr>
          <a:xfrm>
            <a:off x="274320" y="5486400"/>
            <a:ext cx="2286000" cy="274320"/>
          </a:xfrm>
          <a:prstGeom prst="rect">
            <a:avLst/>
          </a:prstGeom>
          <a:noFill/>
        </p:spPr>
        <p:txBody>
          <a:bodyPr wrap="square">
            <a:spAutoFit/>
          </a:bodyPr>
          <a:lstStyle/>
          <a:p>
            <a:r>
              <a:rPr sz="1100">
                <a:solidFill>
                  <a:srgbClr val="00528A"/>
                </a:solidFill>
                <a:latin typeface="Calibri"/>
              </a:rPr>
              <a:t>Distributed</a:t>
            </a:r>
          </a:p>
        </p:txBody>
      </p:sp>
      <p:sp>
        <p:nvSpPr>
          <p:cNvPr id="12" name="TextBox 11"/>
          <p:cNvSpPr txBox="1"/>
          <p:nvPr/>
        </p:nvSpPr>
        <p:spPr>
          <a:xfrm>
            <a:off x="274320" y="5806440"/>
            <a:ext cx="11430000" cy="731520"/>
          </a:xfrm>
          <a:prstGeom prst="rect">
            <a:avLst/>
          </a:prstGeom>
          <a:noFill/>
          <a:ln w="6350">
            <a:solidFill>
              <a:srgbClr val="CCCCCC"/>
            </a:solidFill>
          </a:ln>
        </p:spPr>
        <p:txBody>
          <a:bodyPr wrap="square">
            <a:spAutoFit/>
          </a:bodyPr>
          <a:lstStyle/>
          <a:p>
            <a:pPr algn="dist"/>
            <a:r>
              <a:rPr sz="1200">
                <a:latin typeface="Calibri"/>
              </a:rPr>
              <a:t>The quick brown fox jumps over the lazy dog. Pack my box with five dozen liquor jugs.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10972800" cy="457200"/>
          </a:xfrm>
          <a:prstGeom prst="rect">
            <a:avLst/>
          </a:prstGeom>
          <a:noFill/>
        </p:spPr>
        <p:txBody>
          <a:bodyPr wrap="square">
            <a:spAutoFit/>
          </a:bodyPr>
          <a:lstStyle/>
          <a:p>
            <a:r>
              <a:rPr sz="1800">
                <a:solidFill>
                  <a:srgbClr val="333333"/>
                </a:solidFill>
                <a:latin typeface="Calibri"/>
              </a:rPr>
              <a:t>Slide 2: Bullet Types and Numbering</a:t>
            </a:r>
          </a:p>
        </p:txBody>
      </p:sp>
      <p:sp>
        <p:nvSpPr>
          <p:cNvPr id="3" name="TextBox 2"/>
          <p:cNvSpPr txBox="1"/>
          <p:nvPr/>
        </p:nvSpPr>
        <p:spPr>
          <a:xfrm>
            <a:off x="274320" y="731520"/>
            <a:ext cx="3474720" cy="2743200"/>
          </a:xfrm>
          <a:prstGeom prst="rect">
            <a:avLst/>
          </a:prstGeom>
          <a:noFill/>
          <a:ln w="6350">
            <a:solidFill>
              <a:srgbClr val="DDDDDD"/>
            </a:solidFill>
          </a:ln>
        </p:spPr>
        <p:txBody>
          <a:bodyPr wrap="square">
            <a:spAutoFit/>
          </a:bodyPr>
          <a:lstStyle/>
          <a:p>
            <a:r>
              <a:rPr sz="1300" b="1">
                <a:latin typeface="Calibri"/>
              </a:rPr>
              <a:t>Symbol Bullets:</a:t>
            </a:r>
          </a:p>
          <a:p>
            <a:r>
              <a:rPr sz="1100" b="0">
                <a:latin typeface="Calibri"/>
              </a:rPr>
              <a:t>• Standard bullet point</a:t>
            </a:r>
          </a:p>
          <a:p>
            <a:r>
              <a:rPr sz="1100" b="0">
                <a:latin typeface="Calibri"/>
              </a:rPr>
              <a:t>○ Circle bullet point</a:t>
            </a:r>
          </a:p>
          <a:p>
            <a:r>
              <a:rPr sz="1100" b="0">
                <a:latin typeface="Calibri"/>
              </a:rPr>
              <a:t>■ Square bullet point</a:t>
            </a:r>
          </a:p>
          <a:p>
            <a:r>
              <a:rPr sz="1100" b="0">
                <a:latin typeface="Calibri"/>
              </a:rPr>
              <a:t>✓ Checkmark bullet</a:t>
            </a:r>
          </a:p>
          <a:p>
            <a:r>
              <a:rPr sz="1100" b="0">
                <a:latin typeface="Calibri"/>
              </a:rPr>
              <a:t>→ Arrow bullet point</a:t>
            </a:r>
          </a:p>
          <a:p>
            <a:r>
              <a:rPr sz="1100" b="0">
                <a:latin typeface="Calibri"/>
              </a:rPr>
              <a:t>★ Star bullet point</a:t>
            </a:r>
          </a:p>
        </p:txBody>
      </p:sp>
      <p:sp>
        <p:nvSpPr>
          <p:cNvPr id="4" name="TextBox 3"/>
          <p:cNvSpPr txBox="1"/>
          <p:nvPr/>
        </p:nvSpPr>
        <p:spPr>
          <a:xfrm>
            <a:off x="4114800" y="731520"/>
            <a:ext cx="3474720" cy="2743200"/>
          </a:xfrm>
          <a:prstGeom prst="rect">
            <a:avLst/>
          </a:prstGeom>
          <a:noFill/>
          <a:ln w="6350">
            <a:solidFill>
              <a:srgbClr val="DDDDDD"/>
            </a:solidFill>
          </a:ln>
        </p:spPr>
        <p:txBody>
          <a:bodyPr wrap="square">
            <a:spAutoFit/>
          </a:bodyPr>
          <a:lstStyle/>
          <a:p>
            <a:r>
              <a:rPr sz="1300" b="1">
                <a:latin typeface="Calibri"/>
              </a:rPr>
              <a:t>Numbered Lists:</a:t>
            </a:r>
          </a:p>
          <a:p>
            <a:r>
              <a:rPr sz="1100">
                <a:latin typeface="Calibri"/>
              </a:rPr>
              <a:t>1. Numbered item 1</a:t>
            </a:r>
          </a:p>
          <a:p>
            <a:r>
              <a:rPr sz="1100">
                <a:latin typeface="Calibri"/>
              </a:rPr>
              <a:t>2. Numbered item 2</a:t>
            </a:r>
          </a:p>
          <a:p>
            <a:r>
              <a:rPr sz="1100">
                <a:latin typeface="Calibri"/>
              </a:rPr>
              <a:t>3. Numbered item 3</a:t>
            </a:r>
          </a:p>
          <a:p>
            <a:r>
              <a:rPr sz="1100">
                <a:latin typeface="Calibri"/>
              </a:rPr>
              <a:t>4. Numbered item 4</a:t>
            </a:r>
          </a:p>
          <a:p>
            <a:r>
              <a:rPr sz="1100">
                <a:latin typeface="Calibri"/>
              </a:rPr>
              <a:t>5. Numbered item 5</a:t>
            </a:r>
          </a:p>
          <a:p>
            <a:r>
              <a:rPr sz="1100">
                <a:latin typeface="Calibri"/>
              </a:rPr>
              <a:t>6. Numbered item 6</a:t>
            </a:r>
          </a:p>
        </p:txBody>
      </p:sp>
      <p:sp>
        <p:nvSpPr>
          <p:cNvPr id="5" name="TextBox 4"/>
          <p:cNvSpPr txBox="1"/>
          <p:nvPr/>
        </p:nvSpPr>
        <p:spPr>
          <a:xfrm>
            <a:off x="7955279" y="731520"/>
            <a:ext cx="3474720" cy="2743200"/>
          </a:xfrm>
          <a:prstGeom prst="rect">
            <a:avLst/>
          </a:prstGeom>
          <a:noFill/>
          <a:ln w="6350">
            <a:solidFill>
              <a:srgbClr val="DDDDDD"/>
            </a:solidFill>
          </a:ln>
        </p:spPr>
        <p:txBody>
          <a:bodyPr wrap="square">
            <a:spAutoFit/>
          </a:bodyPr>
          <a:lstStyle/>
          <a:p>
            <a:r>
              <a:rPr sz="1300" b="1">
                <a:latin typeface="Calibri"/>
              </a:rPr>
              <a:t>Lettered Lists:</a:t>
            </a:r>
          </a:p>
          <a:p>
            <a:r>
              <a:rPr sz="1100">
                <a:latin typeface="Calibri"/>
              </a:rPr>
              <a:t>a) Lettered item A</a:t>
            </a:r>
          </a:p>
          <a:p>
            <a:r>
              <a:rPr sz="1100">
                <a:latin typeface="Calibri"/>
              </a:rPr>
              <a:t>b) Lettered item B</a:t>
            </a:r>
          </a:p>
          <a:p>
            <a:r>
              <a:rPr sz="1100">
                <a:latin typeface="Calibri"/>
              </a:rPr>
              <a:t>c) Lettered item C</a:t>
            </a:r>
          </a:p>
          <a:p>
            <a:r>
              <a:rPr sz="1100">
                <a:latin typeface="Calibri"/>
              </a:rPr>
              <a:t>d) Lettered item D</a:t>
            </a:r>
          </a:p>
          <a:p>
            <a:r>
              <a:rPr sz="1100">
                <a:latin typeface="Calibri"/>
              </a:rPr>
              <a:t>e) Lettered item E</a:t>
            </a:r>
          </a:p>
          <a:p>
            <a:r>
              <a:rPr sz="1100">
                <a:latin typeface="Calibri"/>
              </a:rPr>
              <a:t>f) Lettered item F</a:t>
            </a:r>
          </a:p>
        </p:txBody>
      </p:sp>
      <p:sp>
        <p:nvSpPr>
          <p:cNvPr id="6" name="TextBox 5"/>
          <p:cNvSpPr txBox="1"/>
          <p:nvPr/>
        </p:nvSpPr>
        <p:spPr>
          <a:xfrm>
            <a:off x="274320" y="3840480"/>
            <a:ext cx="11155680" cy="2560320"/>
          </a:xfrm>
          <a:prstGeom prst="rect">
            <a:avLst/>
          </a:prstGeom>
          <a:noFill/>
          <a:ln w="6350">
            <a:solidFill>
              <a:srgbClr val="DDDDDD"/>
            </a:solidFill>
          </a:ln>
        </p:spPr>
        <p:txBody>
          <a:bodyPr wrap="square">
            <a:spAutoFit/>
          </a:bodyPr>
          <a:lstStyle/>
          <a:p>
            <a:r>
              <a:rPr sz="1300" b="1">
                <a:latin typeface="Calibri"/>
              </a:rPr>
              <a:t>Multi-Level Outline:</a:t>
            </a:r>
          </a:p>
          <a:p>
            <a:r>
              <a:rPr sz="1100" b="1">
                <a:latin typeface="Calibri"/>
              </a:rPr>
              <a:t>1. First level item</a:t>
            </a:r>
          </a:p>
          <a:p>
            <a:r>
              <a:rPr sz="1100" b="0">
                <a:latin typeface="Calibri"/>
              </a:rPr>
              <a:t>   a. Second level sub-item</a:t>
            </a:r>
          </a:p>
          <a:p>
            <a:r>
              <a:rPr sz="1100" b="0">
                <a:latin typeface="Calibri"/>
              </a:rPr>
              <a:t>   b. Second level sub-item</a:t>
            </a:r>
          </a:p>
          <a:p>
            <a:r>
              <a:rPr sz="1100" b="0">
                <a:latin typeface="Calibri"/>
              </a:rPr>
              <a:t>      i. Third level detail</a:t>
            </a:r>
          </a:p>
          <a:p>
            <a:r>
              <a:rPr sz="1100" b="0">
                <a:latin typeface="Calibri"/>
              </a:rPr>
              <a:t>      ii. Third level detail</a:t>
            </a:r>
          </a:p>
          <a:p>
            <a:r>
              <a:rPr sz="1100" b="0">
                <a:latin typeface="Calibri"/>
              </a:rPr>
              <a:t>   c. Second level sub-item</a:t>
            </a:r>
          </a:p>
          <a:p>
            <a:r>
              <a:rPr sz="1100" b="1">
                <a:latin typeface="Calibri"/>
              </a:rPr>
              <a:t>2. First level item</a:t>
            </a:r>
          </a:p>
          <a:p>
            <a:r>
              <a:rPr sz="1100" b="0">
                <a:latin typeface="Calibri"/>
              </a:rPr>
              <a:t>   a. Second level sub-item</a:t>
            </a:r>
          </a:p>
          <a:p>
            <a:r>
              <a:rPr sz="1100" b="1">
                <a:latin typeface="Calibri"/>
              </a:rPr>
              <a:t>3. First level item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10972800" cy="457200"/>
          </a:xfrm>
          <a:prstGeom prst="rect">
            <a:avLst/>
          </a:prstGeom>
          <a:noFill/>
        </p:spPr>
        <p:txBody>
          <a:bodyPr wrap="square">
            <a:spAutoFit/>
          </a:bodyPr>
          <a:lstStyle/>
          <a:p>
            <a:r>
              <a:rPr sz="1800">
                <a:solidFill>
                  <a:srgbClr val="333333"/>
                </a:solidFill>
                <a:latin typeface="Calibri"/>
              </a:rPr>
              <a:t>Slide 3: Text AutoFit Variations</a:t>
            </a:r>
          </a:p>
        </p:txBody>
      </p:sp>
      <p:sp>
        <p:nvSpPr>
          <p:cNvPr id="3" name="TextBox 2"/>
          <p:cNvSpPr txBox="1"/>
          <p:nvPr/>
        </p:nvSpPr>
        <p:spPr>
          <a:xfrm>
            <a:off x="274320" y="731520"/>
            <a:ext cx="3474720" cy="2286000"/>
          </a:xfrm>
          <a:prstGeom prst="rect">
            <a:avLst/>
          </a:prstGeom>
          <a:noFill/>
          <a:ln w="12700">
            <a:solidFill>
              <a:srgbClr val="FF0000"/>
            </a:solidFill>
          </a:ln>
        </p:spPr>
        <p:txBody>
          <a:bodyPr wrap="square">
            <a:noAutofit/>
          </a:bodyPr>
          <a:lstStyle/>
          <a:p>
            <a:r>
              <a:rPr sz="1400">
                <a:latin typeface="Calibri"/>
              </a:rP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 Sed do eiusmod tempor incididunt ut labore et dolore magna aliqua. Ut enim ad minim veniam, quis nostrud exercitation ullamco laboris nisi ut aliquip ex ea commodo consequat.</a:t>
            </a:r>
          </a:p>
        </p:txBody>
      </p:sp>
      <p:sp>
        <p:nvSpPr>
          <p:cNvPr id="4" name="TextBox 3"/>
          <p:cNvSpPr txBox="1"/>
          <p:nvPr/>
        </p:nvSpPr>
        <p:spPr>
          <a:xfrm>
            <a:off x="274320" y="3200400"/>
            <a:ext cx="3474720" cy="274320"/>
          </a:xfrm>
          <a:prstGeom prst="rect">
            <a:avLst/>
          </a:prstGeom>
          <a:noFill/>
        </p:spPr>
        <p:txBody>
          <a:bodyPr wrap="square">
            <a:spAutoFit/>
          </a:bodyPr>
          <a:lstStyle/>
          <a:p>
            <a:r>
              <a:rPr sz="1000">
                <a:solidFill>
                  <a:srgbClr val="FF0000"/>
                </a:solidFill>
                <a:latin typeface="Calibri"/>
              </a:rPr>
              <a:t>No AutoFit (may overflow)</a:t>
            </a:r>
          </a:p>
        </p:txBody>
      </p:sp>
      <p:sp>
        <p:nvSpPr>
          <p:cNvPr id="5" name="TextBox 4"/>
          <p:cNvSpPr txBox="1"/>
          <p:nvPr/>
        </p:nvSpPr>
        <p:spPr>
          <a:xfrm>
            <a:off x="4114800" y="731520"/>
            <a:ext cx="3474720" cy="2286000"/>
          </a:xfrm>
          <a:prstGeom prst="rect">
            <a:avLst/>
          </a:prstGeom>
          <a:noFill/>
          <a:ln w="12700">
            <a:solidFill>
              <a:srgbClr val="008000"/>
            </a:solidFill>
          </a:ln>
        </p:spPr>
        <p:txBody>
          <a:bodyPr wrap="square">
            <a:normAutofit/>
          </a:bodyPr>
          <a:lstStyle/>
          <a:p>
            <a:r>
              <a:rPr sz="1400">
                <a:latin typeface="Calibri"/>
              </a:rP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 Sed do eiusmod tempor incididunt ut labore et dolore magna aliqua. Ut enim ad minim veniam, quis nostrud exercitation ullamco laboris nisi ut aliquip ex ea commodo consequat.</a:t>
            </a:r>
          </a:p>
        </p:txBody>
      </p:sp>
      <p:sp>
        <p:nvSpPr>
          <p:cNvPr id="6" name="TextBox 5"/>
          <p:cNvSpPr txBox="1"/>
          <p:nvPr/>
        </p:nvSpPr>
        <p:spPr>
          <a:xfrm>
            <a:off x="4114800" y="3200400"/>
            <a:ext cx="3474720" cy="274320"/>
          </a:xfrm>
          <a:prstGeom prst="rect">
            <a:avLst/>
          </a:prstGeom>
          <a:noFill/>
        </p:spPr>
        <p:txBody>
          <a:bodyPr wrap="square">
            <a:spAutoFit/>
          </a:bodyPr>
          <a:lstStyle/>
          <a:p>
            <a:r>
              <a:rPr sz="1000">
                <a:solidFill>
                  <a:srgbClr val="008000"/>
                </a:solidFill>
                <a:latin typeface="Calibri"/>
              </a:rPr>
              <a:t>Shrink Text to Fit</a:t>
            </a:r>
          </a:p>
        </p:txBody>
      </p:sp>
      <p:sp>
        <p:nvSpPr>
          <p:cNvPr id="7" name="TextBox 6"/>
          <p:cNvSpPr txBox="1"/>
          <p:nvPr/>
        </p:nvSpPr>
        <p:spPr>
          <a:xfrm>
            <a:off x="7955279" y="731520"/>
            <a:ext cx="3474720" cy="914400"/>
          </a:xfrm>
          <a:prstGeom prst="rect">
            <a:avLst/>
          </a:prstGeom>
          <a:noFill/>
          <a:ln w="12700">
            <a:solidFill>
              <a:srgbClr val="0000FF"/>
            </a:solidFill>
          </a:ln>
        </p:spPr>
        <p:txBody>
          <a:bodyPr wrap="square">
            <a:spAutoFit/>
          </a:bodyPr>
          <a:lstStyle/>
          <a:p>
            <a:r>
              <a:rPr sz="1400">
                <a:latin typeface="Calibri"/>
              </a:rP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 Sed do eiusmod tempor incididunt ut labore et dolore magna aliqua. Ut enim ad minim veniam, quis nostrud exercitation ullamco laboris nisi ut aliquip ex ea commodo consequat.</a:t>
            </a:r>
          </a:p>
        </p:txBody>
      </p:sp>
      <p:sp>
        <p:nvSpPr>
          <p:cNvPr id="8" name="TextBox 7"/>
          <p:cNvSpPr txBox="1"/>
          <p:nvPr/>
        </p:nvSpPr>
        <p:spPr>
          <a:xfrm>
            <a:off x="7955279" y="3200400"/>
            <a:ext cx="3474720" cy="274320"/>
          </a:xfrm>
          <a:prstGeom prst="rect">
            <a:avLst/>
          </a:prstGeom>
          <a:noFill/>
        </p:spPr>
        <p:txBody>
          <a:bodyPr wrap="square">
            <a:spAutoFit/>
          </a:bodyPr>
          <a:lstStyle/>
          <a:p>
            <a:r>
              <a:rPr sz="1000">
                <a:solidFill>
                  <a:srgbClr val="0000FF"/>
                </a:solidFill>
                <a:latin typeface="Calibri"/>
              </a:rPr>
              <a:t>Shape Grows to Fit Text</a:t>
            </a:r>
          </a:p>
        </p:txBody>
      </p:sp>
      <p:sp>
        <p:nvSpPr>
          <p:cNvPr id="9" name="TextBox 8"/>
          <p:cNvSpPr txBox="1"/>
          <p:nvPr/>
        </p:nvSpPr>
        <p:spPr>
          <a:xfrm>
            <a:off x="274320" y="3840480"/>
            <a:ext cx="2560320" cy="1371600"/>
          </a:xfrm>
          <a:prstGeom prst="rect">
            <a:avLst/>
          </a:prstGeom>
          <a:noFill/>
          <a:ln w="6350">
            <a:solidFill>
              <a:srgbClr val="666666"/>
            </a:solidFill>
          </a:ln>
        </p:spPr>
        <p:txBody>
          <a:bodyPr wrap="square">
            <a:normAutofit/>
          </a:bodyPr>
          <a:lstStyle/>
          <a:p>
            <a:r>
              <a:rPr sz="1400">
                <a:latin typeface="Calibri"/>
              </a:rPr>
              <a:t>Hello world</a:t>
            </a:r>
          </a:p>
        </p:txBody>
      </p:sp>
      <p:sp>
        <p:nvSpPr>
          <p:cNvPr id="10" name="TextBox 9"/>
          <p:cNvSpPr txBox="1"/>
          <p:nvPr/>
        </p:nvSpPr>
        <p:spPr>
          <a:xfrm>
            <a:off x="274320" y="5303520"/>
            <a:ext cx="2560320" cy="274320"/>
          </a:xfrm>
          <a:prstGeom prst="rect">
            <a:avLst/>
          </a:prstGeom>
          <a:noFill/>
        </p:spPr>
        <p:txBody>
          <a:bodyPr wrap="square">
            <a:spAutoFit/>
          </a:bodyPr>
          <a:lstStyle/>
          <a:p>
            <a:r>
              <a:rPr sz="900">
                <a:solidFill>
                  <a:srgbClr val="333333"/>
                </a:solidFill>
                <a:latin typeface="Calibri"/>
              </a:rPr>
              <a:t>Shrink: Short</a:t>
            </a:r>
          </a:p>
        </p:txBody>
      </p:sp>
      <p:sp>
        <p:nvSpPr>
          <p:cNvPr id="11" name="TextBox 10"/>
          <p:cNvSpPr txBox="1"/>
          <p:nvPr/>
        </p:nvSpPr>
        <p:spPr>
          <a:xfrm>
            <a:off x="3200400" y="3840480"/>
            <a:ext cx="2560320" cy="1371600"/>
          </a:xfrm>
          <a:prstGeom prst="rect">
            <a:avLst/>
          </a:prstGeom>
          <a:noFill/>
          <a:ln w="6350">
            <a:solidFill>
              <a:srgbClr val="666666"/>
            </a:solidFill>
          </a:ln>
        </p:spPr>
        <p:txBody>
          <a:bodyPr wrap="square">
            <a:normAutofit/>
          </a:bodyPr>
          <a:lstStyle/>
          <a:p>
            <a:r>
              <a:rPr sz="1400">
                <a:latin typeface="Calibri"/>
              </a:rPr>
              <a:t>The quick brown fox jumps over the lazy dog.</a:t>
            </a:r>
          </a:p>
        </p:txBody>
      </p:sp>
      <p:sp>
        <p:nvSpPr>
          <p:cNvPr id="12" name="TextBox 11"/>
          <p:cNvSpPr txBox="1"/>
          <p:nvPr/>
        </p:nvSpPr>
        <p:spPr>
          <a:xfrm>
            <a:off x="3200400" y="5303520"/>
            <a:ext cx="2560320" cy="274320"/>
          </a:xfrm>
          <a:prstGeom prst="rect">
            <a:avLst/>
          </a:prstGeom>
          <a:noFill/>
        </p:spPr>
        <p:txBody>
          <a:bodyPr wrap="square">
            <a:spAutoFit/>
          </a:bodyPr>
          <a:lstStyle/>
          <a:p>
            <a:r>
              <a:rPr sz="900">
                <a:solidFill>
                  <a:srgbClr val="333333"/>
                </a:solidFill>
                <a:latin typeface="Calibri"/>
              </a:rPr>
              <a:t>Shrink: Medium</a:t>
            </a:r>
          </a:p>
        </p:txBody>
      </p:sp>
      <p:sp>
        <p:nvSpPr>
          <p:cNvPr id="13" name="TextBox 12"/>
          <p:cNvSpPr txBox="1"/>
          <p:nvPr/>
        </p:nvSpPr>
        <p:spPr>
          <a:xfrm>
            <a:off x="6126480" y="3840480"/>
            <a:ext cx="2560320" cy="1371600"/>
          </a:xfrm>
          <a:prstGeom prst="rect">
            <a:avLst/>
          </a:prstGeom>
          <a:noFill/>
          <a:ln w="6350">
            <a:solidFill>
              <a:srgbClr val="666666"/>
            </a:solidFill>
          </a:ln>
        </p:spPr>
        <p:txBody>
          <a:bodyPr wrap="square">
            <a:normAutofit/>
          </a:bodyPr>
          <a:lstStyle/>
          <a:p>
            <a:r>
              <a:rPr sz="1400">
                <a:latin typeface="Calibri"/>
              </a:rPr>
              <a:t>Lorem ipsum dolor sit amet, consectetur adipiscing elit. Sed do eiusmod tempor incididunt ut labore et dolore magna aliqua. Ut enim ad minim veniam, quis nostrud exercitation ullamco laboris nisi ut aliquip ex ea commodo consequat.</a:t>
            </a:r>
          </a:p>
        </p:txBody>
      </p:sp>
      <p:sp>
        <p:nvSpPr>
          <p:cNvPr id="14" name="TextBox 13"/>
          <p:cNvSpPr txBox="1"/>
          <p:nvPr/>
        </p:nvSpPr>
        <p:spPr>
          <a:xfrm>
            <a:off x="6126480" y="5303520"/>
            <a:ext cx="2560320" cy="274320"/>
          </a:xfrm>
          <a:prstGeom prst="rect">
            <a:avLst/>
          </a:prstGeom>
          <a:noFill/>
        </p:spPr>
        <p:txBody>
          <a:bodyPr wrap="square">
            <a:spAutoFit/>
          </a:bodyPr>
          <a:lstStyle/>
          <a:p>
            <a:r>
              <a:rPr sz="900">
                <a:solidFill>
                  <a:srgbClr val="333333"/>
                </a:solidFill>
                <a:latin typeface="Calibri"/>
              </a:rPr>
              <a:t>Shrink: Long</a:t>
            </a:r>
          </a:p>
        </p:txBody>
      </p:sp>
      <p:sp>
        <p:nvSpPr>
          <p:cNvPr id="15" name="TextBox 14"/>
          <p:cNvSpPr txBox="1"/>
          <p:nvPr/>
        </p:nvSpPr>
        <p:spPr>
          <a:xfrm>
            <a:off x="9052560" y="3840480"/>
            <a:ext cx="2560320" cy="1371600"/>
          </a:xfrm>
          <a:prstGeom prst="rect">
            <a:avLst/>
          </a:prstGeom>
          <a:noFill/>
          <a:ln w="6350">
            <a:solidFill>
              <a:srgbClr val="666666"/>
            </a:solidFill>
          </a:ln>
        </p:spPr>
        <p:txBody>
          <a:bodyPr wrap="square">
            <a:normAutofit/>
          </a:bodyPr>
          <a:lstStyle/>
          <a:p>
            <a:r>
              <a:rPr sz="1400">
                <a:latin typeface="Calibri"/>
              </a:rP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 Sed do eiusmod tempor incididunt ut labore et dolore magna aliqua. Ut enim ad minim veniam, quis nostrud exercitation ullamco laboris nisi ut aliquip ex ea commodo consequat.</a:t>
            </a:r>
          </a:p>
        </p:txBody>
      </p:sp>
      <p:sp>
        <p:nvSpPr>
          <p:cNvPr id="16" name="TextBox 15"/>
          <p:cNvSpPr txBox="1"/>
          <p:nvPr/>
        </p:nvSpPr>
        <p:spPr>
          <a:xfrm>
            <a:off x="9052560" y="5303520"/>
            <a:ext cx="2560320" cy="274320"/>
          </a:xfrm>
          <a:prstGeom prst="rect">
            <a:avLst/>
          </a:prstGeom>
          <a:noFill/>
        </p:spPr>
        <p:txBody>
          <a:bodyPr wrap="square">
            <a:spAutoFit/>
          </a:bodyPr>
          <a:lstStyle/>
          <a:p>
            <a:r>
              <a:rPr sz="900">
                <a:solidFill>
                  <a:srgbClr val="333333"/>
                </a:solidFill>
                <a:latin typeface="Calibri"/>
              </a:rPr>
              <a:t>Shrink: Very Long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10972800" cy="457200"/>
          </a:xfrm>
          <a:prstGeom prst="rect">
            <a:avLst/>
          </a:prstGeom>
          <a:noFill/>
        </p:spPr>
        <p:txBody>
          <a:bodyPr wrap="square">
            <a:spAutoFit/>
          </a:bodyPr>
          <a:lstStyle/>
          <a:p>
            <a:r>
              <a:rPr sz="1800">
                <a:solidFill>
                  <a:srgbClr val="333333"/>
                </a:solidFill>
                <a:latin typeface="Calibri"/>
              </a:rPr>
              <a:t>Slide 4: Text Body Rotation</a:t>
            </a:r>
          </a:p>
        </p:txBody>
      </p:sp>
      <p:sp>
        <p:nvSpPr>
          <p:cNvPr id="3" name="Rectangle 2"/>
          <p:cNvSpPr/>
          <p:nvPr/>
        </p:nvSpPr>
        <p:spPr>
          <a:xfrm>
            <a:off x="457200" y="731520"/>
            <a:ext cx="2560320" cy="4572000"/>
          </a:xfrm>
          <a:prstGeom prst="rect">
            <a:avLst/>
          </a:prstGeom>
          <a:solidFill>
            <a:srgbClr val="E8F0FE"/>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A1A2E"/>
                </a:solidFill>
                <a:latin typeface="Calibri"/>
              </a:rPr>
              <a:t>Rotated Text Sample</a:t>
            </a:r>
          </a:p>
          <a:p>
            <a:r>
              <a:rPr sz="1100">
                <a:latin typeface="Calibri"/>
              </a:rPr>
              <a:t>The quick brown fox jumps over the lazy dog. Pack my box with five dozen liquor jugs.</a:t>
            </a:r>
          </a:p>
        </p:txBody>
      </p:sp>
      <p:sp>
        <p:nvSpPr>
          <p:cNvPr id="4" name="TextBox 3"/>
          <p:cNvSpPr txBox="1"/>
          <p:nvPr/>
        </p:nvSpPr>
        <p:spPr>
          <a:xfrm>
            <a:off x="457200" y="5486400"/>
            <a:ext cx="2560320" cy="457200"/>
          </a:xfrm>
          <a:prstGeom prst="rect">
            <a:avLst/>
          </a:prstGeom>
          <a:noFill/>
        </p:spPr>
        <p:txBody>
          <a:bodyPr wrap="square">
            <a:spAutoFit/>
          </a:bodyPr>
          <a:lstStyle/>
          <a:p>
            <a:r>
              <a:rPr sz="1000">
                <a:solidFill>
                  <a:srgbClr val="333333"/>
                </a:solidFill>
                <a:latin typeface="Calibri"/>
              </a:rPr>
              <a:t>No rotation (0°)</a:t>
            </a:r>
          </a:p>
        </p:txBody>
      </p:sp>
      <p:sp>
        <p:nvSpPr>
          <p:cNvPr id="5" name="Rectangle 4"/>
          <p:cNvSpPr/>
          <p:nvPr/>
        </p:nvSpPr>
        <p:spPr>
          <a:xfrm>
            <a:off x="3383280" y="731520"/>
            <a:ext cx="2560320" cy="4572000"/>
          </a:xfrm>
          <a:prstGeom prst="rect">
            <a:avLst/>
          </a:prstGeom>
          <a:solidFill>
            <a:srgbClr val="E8F0FE"/>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vert="vert"/>
          <a:lstStyle/>
          <a:p>
            <a:pPr algn="ctr"/>
            <a:r>
              <a:rPr sz="1600" b="1">
                <a:solidFill>
                  <a:srgbClr val="1A1A2E"/>
                </a:solidFill>
                <a:latin typeface="Calibri"/>
              </a:rPr>
              <a:t>Rotated Text Sample</a:t>
            </a:r>
          </a:p>
          <a:p>
            <a:r>
              <a:rPr sz="1100">
                <a:latin typeface="Calibri"/>
              </a:rPr>
              <a:t>The quick brown fox jumps over the lazy dog. Pack my box with five dozen liquor jugs.</a:t>
            </a:r>
          </a:p>
        </p:txBody>
      </p:sp>
      <p:sp>
        <p:nvSpPr>
          <p:cNvPr id="6" name="TextBox 5"/>
          <p:cNvSpPr txBox="1"/>
          <p:nvPr/>
        </p:nvSpPr>
        <p:spPr>
          <a:xfrm>
            <a:off x="3383280" y="5486400"/>
            <a:ext cx="2560320" cy="457200"/>
          </a:xfrm>
          <a:prstGeom prst="rect">
            <a:avLst/>
          </a:prstGeom>
          <a:noFill/>
        </p:spPr>
        <p:txBody>
          <a:bodyPr wrap="square">
            <a:spAutoFit/>
          </a:bodyPr>
          <a:lstStyle/>
          <a:p>
            <a:r>
              <a:rPr sz="1000">
                <a:solidFill>
                  <a:srgbClr val="333333"/>
                </a:solidFill>
                <a:latin typeface="Calibri"/>
              </a:rPr>
              <a:t>Rotated 90° CW (vert)</a:t>
            </a:r>
          </a:p>
        </p:txBody>
      </p:sp>
      <p:sp>
        <p:nvSpPr>
          <p:cNvPr id="7" name="Rectangle 6"/>
          <p:cNvSpPr/>
          <p:nvPr/>
        </p:nvSpPr>
        <p:spPr>
          <a:xfrm>
            <a:off x="6309360" y="731520"/>
            <a:ext cx="2560320" cy="4572000"/>
          </a:xfrm>
          <a:prstGeom prst="rect">
            <a:avLst/>
          </a:prstGeom>
          <a:solidFill>
            <a:srgbClr val="E8F0FE"/>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vert="vert270"/>
          <a:lstStyle/>
          <a:p>
            <a:pPr algn="ctr"/>
            <a:r>
              <a:rPr sz="1600" b="1">
                <a:solidFill>
                  <a:srgbClr val="1A1A2E"/>
                </a:solidFill>
                <a:latin typeface="Calibri"/>
              </a:rPr>
              <a:t>Rotated Text Sample</a:t>
            </a:r>
          </a:p>
          <a:p>
            <a:r>
              <a:rPr sz="1100">
                <a:latin typeface="Calibri"/>
              </a:rPr>
              <a:t>The quick brown fox jumps over the lazy dog. Pack my box with five dozen liquor jugs.</a:t>
            </a:r>
          </a:p>
        </p:txBody>
      </p:sp>
      <p:sp>
        <p:nvSpPr>
          <p:cNvPr id="8" name="TextBox 7"/>
          <p:cNvSpPr txBox="1"/>
          <p:nvPr/>
        </p:nvSpPr>
        <p:spPr>
          <a:xfrm>
            <a:off x="6309360" y="5486400"/>
            <a:ext cx="2560320" cy="457200"/>
          </a:xfrm>
          <a:prstGeom prst="rect">
            <a:avLst/>
          </a:prstGeom>
          <a:noFill/>
        </p:spPr>
        <p:txBody>
          <a:bodyPr wrap="square">
            <a:spAutoFit/>
          </a:bodyPr>
          <a:lstStyle/>
          <a:p>
            <a:r>
              <a:rPr sz="1000">
                <a:solidFill>
                  <a:srgbClr val="333333"/>
                </a:solidFill>
                <a:latin typeface="Calibri"/>
              </a:rPr>
              <a:t>Rotated 270° CW (vert270)</a:t>
            </a:r>
          </a:p>
        </p:txBody>
      </p:sp>
      <p:sp>
        <p:nvSpPr>
          <p:cNvPr id="9" name="Rectangle 8"/>
          <p:cNvSpPr/>
          <p:nvPr/>
        </p:nvSpPr>
        <p:spPr>
          <a:xfrm>
            <a:off x="9235440" y="731520"/>
            <a:ext cx="2560320" cy="4572000"/>
          </a:xfrm>
          <a:prstGeom prst="rect">
            <a:avLst/>
          </a:prstGeom>
          <a:solidFill>
            <a:srgbClr val="E8F0FE"/>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vert="wordArtVert"/>
          <a:lstStyle/>
          <a:p>
            <a:pPr algn="ctr"/>
            <a:r>
              <a:rPr sz="1600" b="1">
                <a:solidFill>
                  <a:srgbClr val="1A1A2E"/>
                </a:solidFill>
                <a:latin typeface="Calibri"/>
              </a:rPr>
              <a:t>Rotated Text Sample</a:t>
            </a:r>
          </a:p>
          <a:p>
            <a:r>
              <a:rPr sz="1100">
                <a:latin typeface="Calibri"/>
              </a:rPr>
              <a:t>The quick brown fox jumps over the lazy dog. Pack my box with five dozen liquor jugs.</a:t>
            </a:r>
          </a:p>
        </p:txBody>
      </p:sp>
      <p:sp>
        <p:nvSpPr>
          <p:cNvPr id="10" name="TextBox 9"/>
          <p:cNvSpPr txBox="1"/>
          <p:nvPr/>
        </p:nvSpPr>
        <p:spPr>
          <a:xfrm>
            <a:off x="9235440" y="5486400"/>
            <a:ext cx="2560320" cy="457200"/>
          </a:xfrm>
          <a:prstGeom prst="rect">
            <a:avLst/>
          </a:prstGeom>
          <a:noFill/>
        </p:spPr>
        <p:txBody>
          <a:bodyPr wrap="square">
            <a:spAutoFit/>
          </a:bodyPr>
          <a:lstStyle/>
          <a:p>
            <a:r>
              <a:rPr sz="1000">
                <a:solidFill>
                  <a:srgbClr val="333333"/>
                </a:solidFill>
                <a:latin typeface="Calibri"/>
              </a:rPr>
              <a:t>Word Art Vertical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10972800" cy="457200"/>
          </a:xfrm>
          <a:prstGeom prst="rect">
            <a:avLst/>
          </a:prstGeom>
          <a:noFill/>
        </p:spPr>
        <p:txBody>
          <a:bodyPr wrap="square">
            <a:spAutoFit/>
          </a:bodyPr>
          <a:lstStyle/>
          <a:p>
            <a:r>
              <a:rPr sz="1800">
                <a:solidFill>
                  <a:srgbClr val="333333"/>
                </a:solidFill>
                <a:latin typeface="Calibri"/>
              </a:rPr>
              <a:t>Slide 5: Character Formatting Combinations</a:t>
            </a:r>
          </a:p>
        </p:txBody>
      </p:sp>
      <p:sp>
        <p:nvSpPr>
          <p:cNvPr id="3" name="TextBox 2"/>
          <p:cNvSpPr txBox="1"/>
          <p:nvPr/>
        </p:nvSpPr>
        <p:spPr>
          <a:xfrm>
            <a:off x="274320" y="640080"/>
            <a:ext cx="10972800" cy="274320"/>
          </a:xfrm>
          <a:prstGeom prst="rect">
            <a:avLst/>
          </a:prstGeom>
          <a:noFill/>
        </p:spPr>
        <p:txBody>
          <a:bodyPr wrap="square">
            <a:spAutoFit/>
          </a:bodyPr>
          <a:lstStyle/>
          <a:p>
            <a:r>
              <a:rPr sz="1200">
                <a:solidFill>
                  <a:srgbClr val="00528A"/>
                </a:solidFill>
                <a:latin typeface="Calibri"/>
              </a:rPr>
              <a:t>Character Spacing:</a:t>
            </a:r>
          </a:p>
        </p:txBody>
      </p:sp>
      <p:sp>
        <p:nvSpPr>
          <p:cNvPr id="4" name="TextBox 3"/>
          <p:cNvSpPr txBox="1"/>
          <p:nvPr/>
        </p:nvSpPr>
        <p:spPr>
          <a:xfrm>
            <a:off x="457200" y="1005840"/>
            <a:ext cx="10972800" cy="320040"/>
          </a:xfrm>
          <a:prstGeom prst="rect">
            <a:avLst/>
          </a:prstGeom>
          <a:noFill/>
        </p:spPr>
        <p:txBody>
          <a:bodyPr wrap="none">
            <a:spAutoFit/>
          </a:bodyPr>
          <a:lstStyle/>
          <a:p>
            <a:r>
              <a:rPr sz="1400" spc="-300">
                <a:latin typeface="Calibri"/>
              </a:rPr>
              <a:t>Very Tight (-3pt): ABCDEFGHIJKLMNOP abcdefghijklmnop</a:t>
            </a:r>
          </a:p>
        </p:txBody>
      </p:sp>
      <p:sp>
        <p:nvSpPr>
          <p:cNvPr id="5" name="TextBox 4"/>
          <p:cNvSpPr txBox="1"/>
          <p:nvPr/>
        </p:nvSpPr>
        <p:spPr>
          <a:xfrm>
            <a:off x="457200" y="1371600"/>
            <a:ext cx="10972800" cy="320040"/>
          </a:xfrm>
          <a:prstGeom prst="rect">
            <a:avLst/>
          </a:prstGeom>
          <a:noFill/>
        </p:spPr>
        <p:txBody>
          <a:bodyPr wrap="none">
            <a:spAutoFit/>
          </a:bodyPr>
          <a:lstStyle/>
          <a:p>
            <a:r>
              <a:rPr sz="1400" spc="-150">
                <a:latin typeface="Calibri"/>
              </a:rPr>
              <a:t>Tight (-1.5pt): ABCDEFGHIJKLMNOP abcdefghijklmnop</a:t>
            </a:r>
          </a:p>
        </p:txBody>
      </p:sp>
      <p:sp>
        <p:nvSpPr>
          <p:cNvPr id="6" name="TextBox 5"/>
          <p:cNvSpPr txBox="1"/>
          <p:nvPr/>
        </p:nvSpPr>
        <p:spPr>
          <a:xfrm>
            <a:off x="457200" y="1737360"/>
            <a:ext cx="10972800" cy="320040"/>
          </a:xfrm>
          <a:prstGeom prst="rect">
            <a:avLst/>
          </a:prstGeom>
          <a:noFill/>
        </p:spPr>
        <p:txBody>
          <a:bodyPr wrap="none">
            <a:spAutoFit/>
          </a:bodyPr>
          <a:lstStyle/>
          <a:p>
            <a:r>
              <a:rPr sz="1400" spc="0">
                <a:latin typeface="Calibri"/>
              </a:rPr>
              <a:t>Normal (0pt): ABCDEFGHIJKLMNOP abcdefghijklmnop</a:t>
            </a:r>
          </a:p>
        </p:txBody>
      </p:sp>
      <p:sp>
        <p:nvSpPr>
          <p:cNvPr id="7" name="TextBox 6"/>
          <p:cNvSpPr txBox="1"/>
          <p:nvPr/>
        </p:nvSpPr>
        <p:spPr>
          <a:xfrm>
            <a:off x="457200" y="2103120"/>
            <a:ext cx="10972800" cy="320040"/>
          </a:xfrm>
          <a:prstGeom prst="rect">
            <a:avLst/>
          </a:prstGeom>
          <a:noFill/>
        </p:spPr>
        <p:txBody>
          <a:bodyPr wrap="none">
            <a:spAutoFit/>
          </a:bodyPr>
          <a:lstStyle/>
          <a:p>
            <a:r>
              <a:rPr sz="1400" spc="150">
                <a:latin typeface="Calibri"/>
              </a:rPr>
              <a:t>Loose (+1.5pt): ABCDEFGHIJKLMNOP abcdefghijklmnop</a:t>
            </a:r>
          </a:p>
        </p:txBody>
      </p:sp>
      <p:sp>
        <p:nvSpPr>
          <p:cNvPr id="8" name="TextBox 7"/>
          <p:cNvSpPr txBox="1"/>
          <p:nvPr/>
        </p:nvSpPr>
        <p:spPr>
          <a:xfrm>
            <a:off x="457200" y="2468880"/>
            <a:ext cx="10972800" cy="320040"/>
          </a:xfrm>
          <a:prstGeom prst="rect">
            <a:avLst/>
          </a:prstGeom>
          <a:noFill/>
        </p:spPr>
        <p:txBody>
          <a:bodyPr wrap="none">
            <a:spAutoFit/>
          </a:bodyPr>
          <a:lstStyle/>
          <a:p>
            <a:r>
              <a:rPr sz="1400" spc="300">
                <a:latin typeface="Calibri"/>
              </a:rPr>
              <a:t>Very Loose (+3pt): ABCDEFGHIJKLMNOP abcdefghijklmnop</a:t>
            </a:r>
          </a:p>
        </p:txBody>
      </p:sp>
      <p:sp>
        <p:nvSpPr>
          <p:cNvPr id="9" name="TextBox 8"/>
          <p:cNvSpPr txBox="1"/>
          <p:nvPr/>
        </p:nvSpPr>
        <p:spPr>
          <a:xfrm>
            <a:off x="274320" y="3017520"/>
            <a:ext cx="10972800" cy="274320"/>
          </a:xfrm>
          <a:prstGeom prst="rect">
            <a:avLst/>
          </a:prstGeom>
          <a:noFill/>
        </p:spPr>
        <p:txBody>
          <a:bodyPr wrap="square">
            <a:spAutoFit/>
          </a:bodyPr>
          <a:lstStyle/>
          <a:p>
            <a:r>
              <a:rPr sz="1200">
                <a:solidFill>
                  <a:srgbClr val="00528A"/>
                </a:solidFill>
                <a:latin typeface="Calibri"/>
              </a:rPr>
              <a:t>Formatting Combinations:</a:t>
            </a:r>
          </a:p>
        </p:txBody>
      </p:sp>
      <p:sp>
        <p:nvSpPr>
          <p:cNvPr id="10" name="TextBox 9"/>
          <p:cNvSpPr txBox="1"/>
          <p:nvPr/>
        </p:nvSpPr>
        <p:spPr>
          <a:xfrm>
            <a:off x="457200" y="3383280"/>
            <a:ext cx="2560320" cy="365760"/>
          </a:xfrm>
          <a:prstGeom prst="rect">
            <a:avLst/>
          </a:prstGeom>
          <a:noFill/>
        </p:spPr>
        <p:txBody>
          <a:bodyPr wrap="none">
            <a:spAutoFit/>
          </a:bodyPr>
          <a:lstStyle/>
          <a:p>
            <a:r>
              <a:rPr sz="1300" b="0" i="0" u="none">
                <a:latin typeface="Calibri"/>
              </a:rPr>
              <a:t>Normal text</a:t>
            </a:r>
          </a:p>
        </p:txBody>
      </p:sp>
      <p:sp>
        <p:nvSpPr>
          <p:cNvPr id="11" name="TextBox 10"/>
          <p:cNvSpPr txBox="1"/>
          <p:nvPr/>
        </p:nvSpPr>
        <p:spPr>
          <a:xfrm>
            <a:off x="3291840" y="3383280"/>
            <a:ext cx="2560320" cy="365760"/>
          </a:xfrm>
          <a:prstGeom prst="rect">
            <a:avLst/>
          </a:prstGeom>
          <a:noFill/>
        </p:spPr>
        <p:txBody>
          <a:bodyPr wrap="none">
            <a:spAutoFit/>
          </a:bodyPr>
          <a:lstStyle/>
          <a:p>
            <a:r>
              <a:rPr sz="1300" b="1" i="0" u="none">
                <a:latin typeface="Calibri"/>
              </a:rPr>
              <a:t>Bold text</a:t>
            </a:r>
          </a:p>
        </p:txBody>
      </p:sp>
      <p:sp>
        <p:nvSpPr>
          <p:cNvPr id="12" name="TextBox 11"/>
          <p:cNvSpPr txBox="1"/>
          <p:nvPr/>
        </p:nvSpPr>
        <p:spPr>
          <a:xfrm>
            <a:off x="6126480" y="3383280"/>
            <a:ext cx="2560320" cy="365760"/>
          </a:xfrm>
          <a:prstGeom prst="rect">
            <a:avLst/>
          </a:prstGeom>
          <a:noFill/>
        </p:spPr>
        <p:txBody>
          <a:bodyPr wrap="none">
            <a:spAutoFit/>
          </a:bodyPr>
          <a:lstStyle/>
          <a:p>
            <a:r>
              <a:rPr sz="1300" b="0" i="1" u="none">
                <a:latin typeface="Calibri"/>
              </a:rPr>
              <a:t>Italic text</a:t>
            </a:r>
          </a:p>
        </p:txBody>
      </p:sp>
      <p:sp>
        <p:nvSpPr>
          <p:cNvPr id="13" name="TextBox 12"/>
          <p:cNvSpPr txBox="1"/>
          <p:nvPr/>
        </p:nvSpPr>
        <p:spPr>
          <a:xfrm>
            <a:off x="8961120" y="3383280"/>
            <a:ext cx="2560320" cy="365760"/>
          </a:xfrm>
          <a:prstGeom prst="rect">
            <a:avLst/>
          </a:prstGeom>
          <a:noFill/>
        </p:spPr>
        <p:txBody>
          <a:bodyPr wrap="none">
            <a:spAutoFit/>
          </a:bodyPr>
          <a:lstStyle/>
          <a:p>
            <a:r>
              <a:rPr sz="1300" b="0" i="0" u="sng">
                <a:latin typeface="Calibri"/>
              </a:rPr>
              <a:t>Underline text</a:t>
            </a:r>
          </a:p>
        </p:txBody>
      </p:sp>
      <p:sp>
        <p:nvSpPr>
          <p:cNvPr id="14" name="TextBox 13"/>
          <p:cNvSpPr txBox="1"/>
          <p:nvPr/>
        </p:nvSpPr>
        <p:spPr>
          <a:xfrm>
            <a:off x="457200" y="3840480"/>
            <a:ext cx="2560320" cy="365760"/>
          </a:xfrm>
          <a:prstGeom prst="rect">
            <a:avLst/>
          </a:prstGeom>
          <a:noFill/>
        </p:spPr>
        <p:txBody>
          <a:bodyPr wrap="none">
            <a:spAutoFit/>
          </a:bodyPr>
          <a:lstStyle/>
          <a:p>
            <a:r>
              <a:rPr sz="1300" b="1" i="1" u="none">
                <a:latin typeface="Calibri"/>
              </a:rPr>
              <a:t>Bold + Italic</a:t>
            </a:r>
          </a:p>
        </p:txBody>
      </p:sp>
      <p:sp>
        <p:nvSpPr>
          <p:cNvPr id="15" name="TextBox 14"/>
          <p:cNvSpPr txBox="1"/>
          <p:nvPr/>
        </p:nvSpPr>
        <p:spPr>
          <a:xfrm>
            <a:off x="3291840" y="3840480"/>
            <a:ext cx="2560320" cy="365760"/>
          </a:xfrm>
          <a:prstGeom prst="rect">
            <a:avLst/>
          </a:prstGeom>
          <a:noFill/>
        </p:spPr>
        <p:txBody>
          <a:bodyPr wrap="none">
            <a:spAutoFit/>
          </a:bodyPr>
          <a:lstStyle/>
          <a:p>
            <a:r>
              <a:rPr sz="1300" b="1" i="0" u="sng">
                <a:latin typeface="Calibri"/>
              </a:rPr>
              <a:t>Bold + Underline</a:t>
            </a:r>
          </a:p>
        </p:txBody>
      </p:sp>
      <p:sp>
        <p:nvSpPr>
          <p:cNvPr id="16" name="TextBox 15"/>
          <p:cNvSpPr txBox="1"/>
          <p:nvPr/>
        </p:nvSpPr>
        <p:spPr>
          <a:xfrm>
            <a:off x="6126480" y="3840480"/>
            <a:ext cx="2560320" cy="365760"/>
          </a:xfrm>
          <a:prstGeom prst="rect">
            <a:avLst/>
          </a:prstGeom>
          <a:noFill/>
        </p:spPr>
        <p:txBody>
          <a:bodyPr wrap="none">
            <a:spAutoFit/>
          </a:bodyPr>
          <a:lstStyle/>
          <a:p>
            <a:r>
              <a:rPr sz="1300" b="0" i="1" u="sng">
                <a:latin typeface="Calibri"/>
              </a:rPr>
              <a:t>Italic + Underline</a:t>
            </a:r>
          </a:p>
        </p:txBody>
      </p:sp>
      <p:sp>
        <p:nvSpPr>
          <p:cNvPr id="17" name="TextBox 16"/>
          <p:cNvSpPr txBox="1"/>
          <p:nvPr/>
        </p:nvSpPr>
        <p:spPr>
          <a:xfrm>
            <a:off x="8961120" y="3840480"/>
            <a:ext cx="2560320" cy="365760"/>
          </a:xfrm>
          <a:prstGeom prst="rect">
            <a:avLst/>
          </a:prstGeom>
          <a:noFill/>
        </p:spPr>
        <p:txBody>
          <a:bodyPr wrap="none">
            <a:spAutoFit/>
          </a:bodyPr>
          <a:lstStyle/>
          <a:p>
            <a:r>
              <a:rPr sz="1300" b="1" i="1" u="sng">
                <a:latin typeface="Calibri"/>
              </a:rPr>
              <a:t>Bold + Italic + Underline</a:t>
            </a:r>
          </a:p>
        </p:txBody>
      </p:sp>
      <p:sp>
        <p:nvSpPr>
          <p:cNvPr id="18" name="TextBox 17"/>
          <p:cNvSpPr txBox="1"/>
          <p:nvPr/>
        </p:nvSpPr>
        <p:spPr>
          <a:xfrm>
            <a:off x="274320" y="4572000"/>
            <a:ext cx="10972800" cy="274320"/>
          </a:xfrm>
          <a:prstGeom prst="rect">
            <a:avLst/>
          </a:prstGeom>
          <a:noFill/>
        </p:spPr>
        <p:txBody>
          <a:bodyPr wrap="square">
            <a:spAutoFit/>
          </a:bodyPr>
          <a:lstStyle/>
          <a:p>
            <a:r>
              <a:rPr sz="1200">
                <a:solidFill>
                  <a:srgbClr val="00528A"/>
                </a:solidFill>
                <a:latin typeface="Calibri"/>
              </a:rPr>
              <a:t>Special Formatting:</a:t>
            </a:r>
          </a:p>
        </p:txBody>
      </p:sp>
      <p:sp>
        <p:nvSpPr>
          <p:cNvPr id="19" name="TextBox 18"/>
          <p:cNvSpPr txBox="1"/>
          <p:nvPr/>
        </p:nvSpPr>
        <p:spPr>
          <a:xfrm>
            <a:off x="457200" y="4937760"/>
            <a:ext cx="3657600" cy="365760"/>
          </a:xfrm>
          <a:prstGeom prst="rect">
            <a:avLst/>
          </a:prstGeom>
          <a:noFill/>
        </p:spPr>
        <p:txBody>
          <a:bodyPr wrap="none">
            <a:spAutoFit/>
          </a:bodyPr>
          <a:lstStyle/>
          <a:p>
            <a:r>
              <a:rPr sz="1400" strike="sngStrike">
                <a:latin typeface="Calibri"/>
              </a:rPr>
              <a:t>Strikethrough text</a:t>
            </a:r>
          </a:p>
        </p:txBody>
      </p:sp>
      <p:sp>
        <p:nvSpPr>
          <p:cNvPr id="20" name="TextBox 19"/>
          <p:cNvSpPr txBox="1"/>
          <p:nvPr/>
        </p:nvSpPr>
        <p:spPr>
          <a:xfrm>
            <a:off x="457200" y="5394960"/>
            <a:ext cx="9144000" cy="457200"/>
          </a:xfrm>
          <a:prstGeom prst="rect">
            <a:avLst/>
          </a:prstGeom>
          <a:noFill/>
        </p:spPr>
        <p:txBody>
          <a:bodyPr wrap="none">
            <a:spAutoFit/>
          </a:bodyPr>
          <a:lstStyle/>
          <a:p>
            <a:r>
              <a:rPr sz="1600">
                <a:latin typeface="Calibri"/>
              </a:rPr>
              <a:t>E = mc</a:t>
            </a:r>
            <a:r>
              <a:rPr sz="1600" baseline="30000">
                <a:latin typeface="Calibri"/>
              </a:rPr>
              <a:t>2</a:t>
            </a:r>
            <a:r>
              <a:rPr sz="1600">
                <a:latin typeface="Calibri"/>
              </a:rPr>
              <a:t>    H</a:t>
            </a:r>
            <a:r>
              <a:rPr sz="1600" baseline="-25000">
                <a:latin typeface="Calibri"/>
              </a:rPr>
              <a:t>2</a:t>
            </a:r>
            <a:r>
              <a:rPr sz="1600">
                <a:latin typeface="Calibri"/>
              </a:rPr>
              <a:t>O    x</a:t>
            </a:r>
            <a:r>
              <a:rPr sz="1600" baseline="30000">
                <a:latin typeface="Calibri"/>
              </a:rPr>
              <a:t>n</a:t>
            </a:r>
            <a:r>
              <a:rPr sz="1600">
                <a:latin typeface="Calibri"/>
              </a:rPr>
              <a:t> + y</a:t>
            </a:r>
            <a:r>
              <a:rPr sz="1600" baseline="30000">
                <a:latin typeface="Calibri"/>
              </a:rPr>
              <a:t>n</a:t>
            </a:r>
            <a:r>
              <a:rPr sz="1600">
                <a:latin typeface="Calibri"/>
              </a:rPr>
              <a:t> = z</a:t>
            </a:r>
            <a:r>
              <a:rPr sz="1600" baseline="30000">
                <a:latin typeface="Calibri"/>
              </a:rPr>
              <a:t>n</a:t>
            </a:r>
          </a:p>
        </p:txBody>
      </p:sp>
      <p:sp>
        <p:nvSpPr>
          <p:cNvPr id="21" name="TextBox 20"/>
          <p:cNvSpPr txBox="1"/>
          <p:nvPr/>
        </p:nvSpPr>
        <p:spPr>
          <a:xfrm>
            <a:off x="457200" y="5943600"/>
            <a:ext cx="9144000" cy="274320"/>
          </a:xfrm>
          <a:prstGeom prst="rect">
            <a:avLst/>
          </a:prstGeom>
          <a:noFill/>
        </p:spPr>
        <p:txBody>
          <a:bodyPr wrap="square">
            <a:spAutoFit/>
          </a:bodyPr>
          <a:lstStyle/>
          <a:p>
            <a:r>
              <a:rPr sz="1000">
                <a:solidFill>
                  <a:srgbClr val="333333"/>
                </a:solidFill>
                <a:latin typeface="Calibri"/>
              </a:rPr>
              <a:t>Superscript (E=mc²) and Subscript (H₂O)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10972800" cy="457200"/>
          </a:xfrm>
          <a:prstGeom prst="rect">
            <a:avLst/>
          </a:prstGeom>
          <a:noFill/>
        </p:spPr>
        <p:txBody>
          <a:bodyPr wrap="square">
            <a:spAutoFit/>
          </a:bodyPr>
          <a:lstStyle/>
          <a:p>
            <a:r>
              <a:rPr sz="1800">
                <a:solidFill>
                  <a:srgbClr val="333333"/>
                </a:solidFill>
                <a:latin typeface="Calibri"/>
              </a:rPr>
              <a:t>Slide 6: Paragraph Spacing (Before, After, Line Spacing)</a:t>
            </a:r>
          </a:p>
        </p:txBody>
      </p:sp>
      <p:sp>
        <p:nvSpPr>
          <p:cNvPr id="3" name="TextBox 2"/>
          <p:cNvSpPr txBox="1"/>
          <p:nvPr/>
        </p:nvSpPr>
        <p:spPr>
          <a:xfrm>
            <a:off x="274320" y="640080"/>
            <a:ext cx="3474720" cy="274320"/>
          </a:xfrm>
          <a:prstGeom prst="rect">
            <a:avLst/>
          </a:prstGeom>
          <a:noFill/>
        </p:spPr>
        <p:txBody>
          <a:bodyPr wrap="square">
            <a:spAutoFit/>
          </a:bodyPr>
          <a:lstStyle/>
          <a:p>
            <a:r>
              <a:rPr sz="1100">
                <a:solidFill>
                  <a:srgbClr val="00528A"/>
                </a:solidFill>
                <a:latin typeface="Calibri"/>
              </a:rPr>
              <a:t>Space Before/After:</a:t>
            </a:r>
          </a:p>
        </p:txBody>
      </p:sp>
      <p:sp>
        <p:nvSpPr>
          <p:cNvPr id="4" name="TextBox 3"/>
          <p:cNvSpPr txBox="1"/>
          <p:nvPr/>
        </p:nvSpPr>
        <p:spPr>
          <a:xfrm>
            <a:off x="274320" y="1005840"/>
            <a:ext cx="3474720" cy="5029200"/>
          </a:xfrm>
          <a:prstGeom prst="rect">
            <a:avLst/>
          </a:prstGeom>
          <a:noFill/>
          <a:ln w="6350">
            <a:solidFill>
              <a:srgbClr val="CCCCCC"/>
            </a:solidFill>
          </a:ln>
        </p:spPr>
        <p:txBody>
          <a:bodyPr wrap="square">
            <a:spAutoFit/>
          </a:bodyPr>
          <a:lstStyle/>
          <a:p>
            <a:pPr>
              <a:spcBef>
                <a:spcPts val="0"/>
              </a:spcBef>
              <a:spcAft>
                <a:spcPts val="0"/>
              </a:spcAft>
            </a:pPr>
            <a:r>
              <a:rPr sz="1200">
                <a:latin typeface="Calibri"/>
              </a:rPr>
              <a:t>No extra spacing</a:t>
            </a:r>
          </a:p>
          <a:p>
            <a:pPr>
              <a:spcBef>
                <a:spcPts val="600"/>
              </a:spcBef>
              <a:spcAft>
                <a:spcPts val="0"/>
              </a:spcAft>
            </a:pPr>
            <a:r>
              <a:rPr sz="1200">
                <a:latin typeface="Calibri"/>
              </a:rPr>
              <a:t>6pt before</a:t>
            </a:r>
          </a:p>
          <a:p>
            <a:pPr>
              <a:spcBef>
                <a:spcPts val="0"/>
              </a:spcBef>
              <a:spcAft>
                <a:spcPts val="600"/>
              </a:spcAft>
            </a:pPr>
            <a:r>
              <a:rPr sz="1200">
                <a:latin typeface="Calibri"/>
              </a:rPr>
              <a:t>6pt after</a:t>
            </a:r>
          </a:p>
          <a:p>
            <a:pPr>
              <a:spcBef>
                <a:spcPts val="1200"/>
              </a:spcBef>
              <a:spcAft>
                <a:spcPts val="0"/>
              </a:spcAft>
            </a:pPr>
            <a:r>
              <a:rPr sz="1200">
                <a:latin typeface="Calibri"/>
              </a:rPr>
              <a:t>12pt before</a:t>
            </a:r>
          </a:p>
          <a:p>
            <a:pPr>
              <a:spcBef>
                <a:spcPts val="0"/>
              </a:spcBef>
              <a:spcAft>
                <a:spcPts val="1200"/>
              </a:spcAft>
            </a:pPr>
            <a:r>
              <a:rPr sz="1200">
                <a:latin typeface="Calibri"/>
              </a:rPr>
              <a:t>12pt after</a:t>
            </a:r>
          </a:p>
          <a:p>
            <a:pPr>
              <a:spcBef>
                <a:spcPts val="1200"/>
              </a:spcBef>
              <a:spcAft>
                <a:spcPts val="600"/>
              </a:spcAft>
            </a:pPr>
            <a:r>
              <a:rPr sz="1200">
                <a:latin typeface="Calibri"/>
              </a:rPr>
              <a:t>12pt before + 6pt after</a:t>
            </a:r>
          </a:p>
        </p:txBody>
      </p:sp>
      <p:sp>
        <p:nvSpPr>
          <p:cNvPr id="5" name="TextBox 4"/>
          <p:cNvSpPr txBox="1"/>
          <p:nvPr/>
        </p:nvSpPr>
        <p:spPr>
          <a:xfrm>
            <a:off x="4114800" y="640080"/>
            <a:ext cx="3474720" cy="274320"/>
          </a:xfrm>
          <a:prstGeom prst="rect">
            <a:avLst/>
          </a:prstGeom>
          <a:noFill/>
        </p:spPr>
        <p:txBody>
          <a:bodyPr wrap="square">
            <a:spAutoFit/>
          </a:bodyPr>
          <a:lstStyle/>
          <a:p>
            <a:r>
              <a:rPr sz="1100">
                <a:solidFill>
                  <a:srgbClr val="00528A"/>
                </a:solidFill>
                <a:latin typeface="Calibri"/>
              </a:rPr>
              <a:t>Line Spacing:</a:t>
            </a:r>
          </a:p>
        </p:txBody>
      </p:sp>
      <p:sp>
        <p:nvSpPr>
          <p:cNvPr id="6" name="TextBox 5"/>
          <p:cNvSpPr txBox="1"/>
          <p:nvPr/>
        </p:nvSpPr>
        <p:spPr>
          <a:xfrm>
            <a:off x="4114800" y="1005840"/>
            <a:ext cx="3474720" cy="914400"/>
          </a:xfrm>
          <a:prstGeom prst="rect">
            <a:avLst/>
          </a:prstGeom>
          <a:noFill/>
          <a:ln w="6350">
            <a:solidFill>
              <a:srgbClr val="CCCCCC"/>
            </a:solidFill>
          </a:ln>
        </p:spPr>
        <p:txBody>
          <a:bodyPr wrap="square">
            <a:spAutoFit/>
          </a:bodyPr>
          <a:lstStyle/>
          <a:p>
            <a:pPr>
              <a:lnSpc>
                <a:spcPct val="100000"/>
              </a:lnSpc>
            </a:pPr>
            <a:r>
              <a:rPr sz="1000">
                <a:latin typeface="Calibri"/>
              </a:rPr>
              <a:t>Single (100%): The quick brown fox jumps over the lazy dog. Pack my box wit</a:t>
            </a:r>
          </a:p>
        </p:txBody>
      </p:sp>
      <p:sp>
        <p:nvSpPr>
          <p:cNvPr id="7" name="TextBox 6"/>
          <p:cNvSpPr txBox="1"/>
          <p:nvPr/>
        </p:nvSpPr>
        <p:spPr>
          <a:xfrm>
            <a:off x="4114800" y="2103120"/>
            <a:ext cx="3474720" cy="914400"/>
          </a:xfrm>
          <a:prstGeom prst="rect">
            <a:avLst/>
          </a:prstGeom>
          <a:noFill/>
          <a:ln w="6350">
            <a:solidFill>
              <a:srgbClr val="CCCCCC"/>
            </a:solidFill>
          </a:ln>
        </p:spPr>
        <p:txBody>
          <a:bodyPr wrap="square">
            <a:spAutoFit/>
          </a:bodyPr>
          <a:lstStyle/>
          <a:p>
            <a:pPr>
              <a:lnSpc>
                <a:spcPct val="115000"/>
              </a:lnSpc>
            </a:pPr>
            <a:r>
              <a:rPr sz="1000">
                <a:latin typeface="Calibri"/>
              </a:rPr>
              <a:t>1.15x (115%): The quick brown fox jumps over the lazy dog. Pack my box wit</a:t>
            </a:r>
          </a:p>
        </p:txBody>
      </p:sp>
      <p:sp>
        <p:nvSpPr>
          <p:cNvPr id="8" name="TextBox 7"/>
          <p:cNvSpPr txBox="1"/>
          <p:nvPr/>
        </p:nvSpPr>
        <p:spPr>
          <a:xfrm>
            <a:off x="4114800" y="3200400"/>
            <a:ext cx="3474720" cy="914400"/>
          </a:xfrm>
          <a:prstGeom prst="rect">
            <a:avLst/>
          </a:prstGeom>
          <a:noFill/>
          <a:ln w="6350">
            <a:solidFill>
              <a:srgbClr val="CCCCCC"/>
            </a:solidFill>
          </a:ln>
        </p:spPr>
        <p:txBody>
          <a:bodyPr wrap="square">
            <a:spAutoFit/>
          </a:bodyPr>
          <a:lstStyle/>
          <a:p>
            <a:pPr>
              <a:lnSpc>
                <a:spcPct val="150000"/>
              </a:lnSpc>
            </a:pPr>
            <a:r>
              <a:rPr sz="1000">
                <a:latin typeface="Calibri"/>
              </a:rPr>
              <a:t>1.5x (150%): The quick brown fox jumps over the lazy dog. Pack my box wit</a:t>
            </a:r>
          </a:p>
        </p:txBody>
      </p:sp>
      <p:sp>
        <p:nvSpPr>
          <p:cNvPr id="9" name="TextBox 8"/>
          <p:cNvSpPr txBox="1"/>
          <p:nvPr/>
        </p:nvSpPr>
        <p:spPr>
          <a:xfrm>
            <a:off x="4114800" y="4297680"/>
            <a:ext cx="3474720" cy="914400"/>
          </a:xfrm>
          <a:prstGeom prst="rect">
            <a:avLst/>
          </a:prstGeom>
          <a:noFill/>
          <a:ln w="6350">
            <a:solidFill>
              <a:srgbClr val="CCCCCC"/>
            </a:solidFill>
          </a:ln>
        </p:spPr>
        <p:txBody>
          <a:bodyPr wrap="square">
            <a:spAutoFit/>
          </a:bodyPr>
          <a:lstStyle/>
          <a:p>
            <a:pPr>
              <a:lnSpc>
                <a:spcPct val="200000"/>
              </a:lnSpc>
            </a:pPr>
            <a:r>
              <a:rPr sz="1000">
                <a:latin typeface="Calibri"/>
              </a:rPr>
              <a:t>Double (200%): The quick brown fox jumps over the lazy dog. Pack my box wit</a:t>
            </a:r>
          </a:p>
        </p:txBody>
      </p:sp>
      <p:sp>
        <p:nvSpPr>
          <p:cNvPr id="10" name="TextBox 9"/>
          <p:cNvSpPr txBox="1"/>
          <p:nvPr/>
        </p:nvSpPr>
        <p:spPr>
          <a:xfrm>
            <a:off x="4114800" y="5394960"/>
            <a:ext cx="3474720" cy="914400"/>
          </a:xfrm>
          <a:prstGeom prst="rect">
            <a:avLst/>
          </a:prstGeom>
          <a:noFill/>
          <a:ln w="6350">
            <a:solidFill>
              <a:srgbClr val="CCCCCC"/>
            </a:solidFill>
          </a:ln>
        </p:spPr>
        <p:txBody>
          <a:bodyPr wrap="square">
            <a:spAutoFit/>
          </a:bodyPr>
          <a:lstStyle/>
          <a:p>
            <a:pPr>
              <a:lnSpc>
                <a:spcPct val="300000"/>
              </a:lnSpc>
            </a:pPr>
            <a:r>
              <a:rPr sz="1000">
                <a:latin typeface="Calibri"/>
              </a:rPr>
              <a:t>Triple (300%): The quick brown fox jumps over the lazy dog. Pack my box wit</a:t>
            </a:r>
          </a:p>
        </p:txBody>
      </p:sp>
      <p:sp>
        <p:nvSpPr>
          <p:cNvPr id="11" name="TextBox 10"/>
          <p:cNvSpPr txBox="1"/>
          <p:nvPr/>
        </p:nvSpPr>
        <p:spPr>
          <a:xfrm>
            <a:off x="7955279" y="640080"/>
            <a:ext cx="3474720" cy="274320"/>
          </a:xfrm>
          <a:prstGeom prst="rect">
            <a:avLst/>
          </a:prstGeom>
          <a:noFill/>
        </p:spPr>
        <p:txBody>
          <a:bodyPr wrap="square">
            <a:spAutoFit/>
          </a:bodyPr>
          <a:lstStyle/>
          <a:p>
            <a:r>
              <a:rPr sz="1100">
                <a:solidFill>
                  <a:srgbClr val="00528A"/>
                </a:solidFill>
                <a:latin typeface="Calibri"/>
              </a:rPr>
              <a:t>Fixed Line Spacing (points):</a:t>
            </a:r>
          </a:p>
        </p:txBody>
      </p:sp>
      <p:sp>
        <p:nvSpPr>
          <p:cNvPr id="12" name="TextBox 11"/>
          <p:cNvSpPr txBox="1"/>
          <p:nvPr/>
        </p:nvSpPr>
        <p:spPr>
          <a:xfrm>
            <a:off x="7955279" y="1005840"/>
            <a:ext cx="3474720" cy="1097280"/>
          </a:xfrm>
          <a:prstGeom prst="rect">
            <a:avLst/>
          </a:prstGeom>
          <a:noFill/>
          <a:ln w="6350">
            <a:solidFill>
              <a:srgbClr val="CCCCCC"/>
            </a:solidFill>
          </a:ln>
        </p:spPr>
        <p:txBody>
          <a:bodyPr wrap="square">
            <a:spAutoFit/>
          </a:bodyPr>
          <a:lstStyle/>
          <a:p>
            <a:pPr>
              <a:lnSpc>
                <a:spcPts val="1200"/>
              </a:lnSpc>
            </a:pPr>
            <a:r>
              <a:rPr sz="1000">
                <a:latin typeface="Calibri"/>
              </a:rPr>
              <a:t>12pt line spacing: The quick brown fox jumps over the lazy dog. Pack </a:t>
            </a:r>
          </a:p>
        </p:txBody>
      </p:sp>
      <p:sp>
        <p:nvSpPr>
          <p:cNvPr id="13" name="TextBox 12"/>
          <p:cNvSpPr txBox="1"/>
          <p:nvPr/>
        </p:nvSpPr>
        <p:spPr>
          <a:xfrm>
            <a:off x="7955279" y="2377440"/>
            <a:ext cx="3474720" cy="1097280"/>
          </a:xfrm>
          <a:prstGeom prst="rect">
            <a:avLst/>
          </a:prstGeom>
          <a:noFill/>
          <a:ln w="6350">
            <a:solidFill>
              <a:srgbClr val="CCCCCC"/>
            </a:solidFill>
          </a:ln>
        </p:spPr>
        <p:txBody>
          <a:bodyPr wrap="square">
            <a:spAutoFit/>
          </a:bodyPr>
          <a:lstStyle/>
          <a:p>
            <a:pPr>
              <a:lnSpc>
                <a:spcPts val="1600"/>
              </a:lnSpc>
            </a:pPr>
            <a:r>
              <a:rPr sz="1000">
                <a:latin typeface="Calibri"/>
              </a:rPr>
              <a:t>16pt line spacing: The quick brown fox jumps over the lazy dog. Pack </a:t>
            </a:r>
          </a:p>
        </p:txBody>
      </p:sp>
      <p:sp>
        <p:nvSpPr>
          <p:cNvPr id="14" name="TextBox 13"/>
          <p:cNvSpPr txBox="1"/>
          <p:nvPr/>
        </p:nvSpPr>
        <p:spPr>
          <a:xfrm>
            <a:off x="7955279" y="3749039"/>
            <a:ext cx="3474720" cy="1097280"/>
          </a:xfrm>
          <a:prstGeom prst="rect">
            <a:avLst/>
          </a:prstGeom>
          <a:noFill/>
          <a:ln w="6350">
            <a:solidFill>
              <a:srgbClr val="CCCCCC"/>
            </a:solidFill>
          </a:ln>
        </p:spPr>
        <p:txBody>
          <a:bodyPr wrap="square">
            <a:spAutoFit/>
          </a:bodyPr>
          <a:lstStyle/>
          <a:p>
            <a:pPr>
              <a:lnSpc>
                <a:spcPts val="2400"/>
              </a:lnSpc>
            </a:pPr>
            <a:r>
              <a:rPr sz="1000">
                <a:latin typeface="Calibri"/>
              </a:rPr>
              <a:t>24pt line spacing: The quick brown fox jumps over the lazy dog. Pack </a:t>
            </a:r>
          </a:p>
        </p:txBody>
      </p:sp>
      <p:sp>
        <p:nvSpPr>
          <p:cNvPr id="15" name="TextBox 14"/>
          <p:cNvSpPr txBox="1"/>
          <p:nvPr/>
        </p:nvSpPr>
        <p:spPr>
          <a:xfrm>
            <a:off x="7955279" y="5120640"/>
            <a:ext cx="3474720" cy="1097280"/>
          </a:xfrm>
          <a:prstGeom prst="rect">
            <a:avLst/>
          </a:prstGeom>
          <a:noFill/>
          <a:ln w="6350">
            <a:solidFill>
              <a:srgbClr val="CCCCCC"/>
            </a:solidFill>
          </a:ln>
        </p:spPr>
        <p:txBody>
          <a:bodyPr wrap="square">
            <a:spAutoFit/>
          </a:bodyPr>
          <a:lstStyle/>
          <a:p>
            <a:pPr>
              <a:lnSpc>
                <a:spcPts val="3600"/>
              </a:lnSpc>
            </a:pPr>
            <a:r>
              <a:rPr sz="1000">
                <a:latin typeface="Calibri"/>
              </a:rPr>
              <a:t>36pt line spacing: The quick brown fox jumps over the lazy dog. Pack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