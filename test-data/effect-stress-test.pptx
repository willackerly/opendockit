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1: Drop Shadows (Offset, Blur, Color Variations)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outerShdw blurRad="0" dist="38100" dir="189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Small offset
no blur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91440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outerShdw blurRad="50800" dist="76200" dir="18900000" algn="b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Medium offset
medium blur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91440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outerShdw blurRad="101600" dist="152400" dir="18900000" algn="bl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Large offset
large blur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91440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outerShdw blurRad="50800" dist="76200" dir="18900000" algn="bl" rotWithShape="0">
              <a:srgbClr val="FF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Red shadow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91440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outerShdw blurRad="50800" dist="76200" dir="18900000" algn="bl" rotWithShape="0">
              <a:srgbClr val="0000FF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Blue shadow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57600"/>
            <a:ext cx="1828800" cy="1828800"/>
          </a:xfrm>
          <a:prstGeom prst="roundRect">
            <a:avLst/>
          </a:prstGeom>
          <a:solidFill>
            <a:srgbClr val="ED7D31"/>
          </a:solidFill>
          <a:effectLst>
            <a:outerShdw blurRad="50800" dist="76200" dir="0" algn="b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Shadow Right (0°)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657600"/>
            <a:ext cx="1828800" cy="1828800"/>
          </a:xfrm>
          <a:prstGeom prst="roundRect">
            <a:avLst/>
          </a:prstGeom>
          <a:solidFill>
            <a:srgbClr val="ED7D31"/>
          </a:solidFill>
          <a:effectLst>
            <a:outerShdw blurRad="50800" dist="76200" dir="18900000" algn="b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Shadow Bottom-Right (315°)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657600"/>
            <a:ext cx="1828800" cy="1828800"/>
          </a:xfrm>
          <a:prstGeom prst="roundRect">
            <a:avLst/>
          </a:prstGeom>
          <a:solidFill>
            <a:srgbClr val="ED7D31"/>
          </a:solidFill>
          <a:effectLst>
            <a:outerShdw blurRad="50800" dist="76200" dir="16200000" algn="b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Shadow Bottom (270°)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3657600"/>
            <a:ext cx="1828800" cy="1828800"/>
          </a:xfrm>
          <a:prstGeom prst="roundRect">
            <a:avLst/>
          </a:prstGeom>
          <a:solidFill>
            <a:srgbClr val="ED7D31"/>
          </a:solidFill>
          <a:effectLst>
            <a:outerShdw blurRad="50800" dist="76200" dir="10800000" algn="b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Shadow Left (180°)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3657600"/>
            <a:ext cx="1828800" cy="1828800"/>
          </a:xfrm>
          <a:prstGeom prst="roundRect">
            <a:avLst/>
          </a:prstGeom>
          <a:solidFill>
            <a:srgbClr val="ED7D31"/>
          </a:solidFill>
          <a:effectLst>
            <a:outerShdw blurRad="50800" dist="76200" dir="5400000" algn="b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Shadow Top (90°)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Calibri"/>
              </a:rPr>
              <a:t>Slide 2: Outer Glow Effects</a:t>
            </a:r>
          </a:p>
        </p:txBody>
      </p:sp>
      <p:sp>
        <p:nvSpPr>
          <p:cNvPr id="3" name="Oval 2"/>
          <p:cNvSpPr/>
          <p:nvPr/>
        </p:nvSpPr>
        <p:spPr>
          <a:xfrm>
            <a:off x="365760" y="1097280"/>
            <a:ext cx="1828800" cy="1828800"/>
          </a:xfrm>
          <a:prstGeom prst="ellipse">
            <a:avLst/>
          </a:prstGeom>
          <a:solidFill>
            <a:srgbClr val="FFD700"/>
          </a:solidFill>
          <a:effectLst>
            <a:glow rad="50800">
              <a:srgbClr val="FFD7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  <a:latin typeface="Calibri"/>
              </a:rPr>
              <a:t>Small gold glow</a:t>
            </a:r>
          </a:p>
        </p:txBody>
      </p:sp>
      <p:sp>
        <p:nvSpPr>
          <p:cNvPr id="5" name="Oval 4"/>
          <p:cNvSpPr/>
          <p:nvPr/>
        </p:nvSpPr>
        <p:spPr>
          <a:xfrm>
            <a:off x="2651760" y="1097280"/>
            <a:ext cx="1828800" cy="1828800"/>
          </a:xfrm>
          <a:prstGeom prst="ellipse">
            <a:avLst/>
          </a:prstGeom>
          <a:solidFill>
            <a:srgbClr val="FF4444"/>
          </a:solidFill>
          <a:effectLst>
            <a:glow rad="101600">
              <a:srgbClr val="FF00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  <a:latin typeface="Calibri"/>
              </a:rPr>
              <a:t>Medium red glow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1097280"/>
            <a:ext cx="1828800" cy="1828800"/>
          </a:xfrm>
          <a:prstGeom prst="ellipse">
            <a:avLst/>
          </a:prstGeom>
          <a:solidFill>
            <a:srgbClr val="4472C4"/>
          </a:solidFill>
          <a:effectLst>
            <a:glow rad="203200">
              <a:srgbClr val="00BFF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  <a:latin typeface="Calibri"/>
              </a:rPr>
              <a:t>Large blue glow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1097280"/>
            <a:ext cx="1828800" cy="1828800"/>
          </a:xfrm>
          <a:prstGeom prst="ellipse">
            <a:avLst/>
          </a:prstGeom>
          <a:solidFill>
            <a:srgbClr val="008000"/>
          </a:solidFill>
          <a:effectLst>
            <a:glow rad="127000">
              <a:srgbClr val="00FF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  <a:latin typeface="Calibri"/>
              </a:rPr>
              <a:t>Green glow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0" y="1097280"/>
            <a:ext cx="1828800" cy="1828800"/>
          </a:xfrm>
          <a:prstGeom prst="ellipse">
            <a:avLst/>
          </a:prstGeom>
          <a:solidFill>
            <a:srgbClr val="800080"/>
          </a:solidFill>
          <a:effectLst>
            <a:glow rad="152400">
              <a:srgbClr val="FF00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  <a:latin typeface="Calibri"/>
              </a:rPr>
              <a:t>Purple glow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840480"/>
            <a:ext cx="2743200" cy="1828800"/>
          </a:xfrm>
          <a:prstGeom prst="rect">
            <a:avLst/>
          </a:prstGeom>
          <a:solidFill>
            <a:srgbClr val="CC6600"/>
          </a:solidFill>
          <a:effectLst>
            <a:glow rad="127000">
              <a:srgbClr val="FFA5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  <a:latin typeface="Calibri"/>
              </a:rPr>
              <a:t>Rectangle
with glow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3840480"/>
            <a:ext cx="2743200" cy="1828800"/>
          </a:xfrm>
          <a:prstGeom prst="ellipse">
            <a:avLst/>
          </a:prstGeom>
          <a:solidFill>
            <a:srgbClr val="009999"/>
          </a:solidFill>
          <a:effectLst>
            <a:glow rad="127000">
              <a:srgbClr val="00FFFF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  <a:latin typeface="Calibri"/>
              </a:rPr>
              <a:t>Ellipse
with glow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840480"/>
            <a:ext cx="2743200" cy="1828800"/>
          </a:xfrm>
          <a:prstGeom prst="roundRect">
            <a:avLst/>
          </a:prstGeom>
          <a:solidFill>
            <a:srgbClr val="CC3366"/>
          </a:solidFill>
          <a:effectLst>
            <a:glow rad="127000">
              <a:srgbClr val="FF69B4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  <a:latin typeface="Calibri"/>
              </a:rPr>
              <a:t>Rounded rect
with glow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3: Reflection Effects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73152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reflection blurRad="0" stA="70000" endA="0" endPos="30000" dist="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918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Tight reflection
(close, strong)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73152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reflection blurRad="0" stA="50000" endA="0" endPos="50000" dist="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32918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Half reflection
(50% fade)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73152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reflection blurRad="0" stA="40000" endA="0" endPos="40000" dist="12700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32918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Distant reflection
(offset 10pt)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73152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reflection blurRad="38100" stA="50000" endA="0" endPos="50000" dist="2540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32918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Blurred reflection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731520"/>
            <a:ext cx="1828800" cy="1828800"/>
          </a:xfrm>
          <a:prstGeom prst="roundRect">
            <a:avLst/>
          </a:prstGeom>
          <a:solidFill>
            <a:srgbClr val="4472C4"/>
          </a:solidFill>
          <a:effectLst>
            <a:reflection blurRad="0" stA="20000" endA="0" endPos="30000" dist="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29183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Calibri"/>
              </a:rPr>
              <a:t>Subtle reflection
(20% alpha)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2743200" cy="1645920"/>
          </a:xfrm>
          <a:prstGeom prst="ellipse">
            <a:avLst/>
          </a:prstGeom>
          <a:solidFill>
            <a:srgbClr val="ED7D31"/>
          </a:solidFill>
          <a:effectLst>
            <a:reflection blurRad="12700" stA="50000" endA="0" endPos="50000" dist="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Ellipse + reflection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840480"/>
            <a:ext cx="2743200" cy="1645920"/>
          </a:xfrm>
          <a:prstGeom prst="roundRect">
            <a:avLst/>
          </a:prstGeom>
          <a:solidFill>
            <a:srgbClr val="70AD47"/>
          </a:solidFill>
          <a:effectLst>
            <a:reflection blurRad="12700" stA="50000" endA="0" endPos="50000" dist="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Round rect + reflection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8595360" y="3840480"/>
            <a:ext cx="2743200" cy="1645920"/>
          </a:xfrm>
          <a:prstGeom prst="triangle">
            <a:avLst/>
          </a:prstGeom>
          <a:solidFill>
            <a:srgbClr val="FFC000"/>
          </a:solidFill>
          <a:effectLst>
            <a:reflection blurRad="12700" stA="50000" endA="0" endPos="50000" dist="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Triangle + reflection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4: Soft Edge 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828800" cy="1828800"/>
          </a:xfrm>
          <a:prstGeom prst="rect">
            <a:avLst/>
          </a:prstGeom>
          <a:solidFill>
            <a:srgbClr val="C00000"/>
          </a:solidFill>
          <a:effectLst>
            <a:softEdge rad="254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2pt soft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914400"/>
            <a:ext cx="1828800" cy="1828800"/>
          </a:xfrm>
          <a:prstGeom prst="rect">
            <a:avLst/>
          </a:prstGeom>
          <a:solidFill>
            <a:srgbClr val="C00000"/>
          </a:solidFill>
          <a:effectLst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5pt soft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914400"/>
            <a:ext cx="1828800" cy="1828800"/>
          </a:xfrm>
          <a:prstGeom prst="rect">
            <a:avLst/>
          </a:prstGeom>
          <a:solidFill>
            <a:srgbClr val="C00000"/>
          </a:solidFill>
          <a:effectLst>
            <a:softEdge rad="12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10pt soft 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914400"/>
            <a:ext cx="1828800" cy="1828800"/>
          </a:xfrm>
          <a:prstGeom prst="rect">
            <a:avLst/>
          </a:prstGeom>
          <a:solidFill>
            <a:srgbClr val="C00000"/>
          </a:solidFill>
          <a:effectLst>
            <a:softEdge rad="254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20pt soft 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914400"/>
            <a:ext cx="1828800" cy="1828800"/>
          </a:xfrm>
          <a:prstGeom prst="rect">
            <a:avLst/>
          </a:prstGeom>
          <a:solidFill>
            <a:srgbClr val="C00000"/>
          </a:solidFill>
          <a:effectLst>
            <a:softEdge rad="508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40pt soft edge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57600"/>
            <a:ext cx="2286000" cy="2286000"/>
          </a:xfrm>
          <a:prstGeom prst="ellipse">
            <a:avLst/>
          </a:prstGeom>
          <a:solidFill>
            <a:srgbClr val="008000"/>
          </a:solidFill>
          <a:effectLst>
            <a:softEdge rad="12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Ellipse, 10pt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657600"/>
            <a:ext cx="2286000" cy="2286000"/>
          </a:xfrm>
          <a:prstGeom prst="roundRect">
            <a:avLst/>
          </a:prstGeom>
          <a:solidFill>
            <a:srgbClr val="0000CC"/>
          </a:solidFill>
          <a:effectLst>
            <a:softEdge rad="190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Round rect, 15pt</a:t>
            </a:r>
          </a:p>
        </p:txBody>
      </p:sp>
      <p:sp>
        <p:nvSpPr>
          <p:cNvPr id="17" name="Diamond 16"/>
          <p:cNvSpPr/>
          <p:nvPr/>
        </p:nvSpPr>
        <p:spPr>
          <a:xfrm>
            <a:off x="6400800" y="3657600"/>
            <a:ext cx="2286000" cy="2286000"/>
          </a:xfrm>
          <a:prstGeom prst="diamond">
            <a:avLst/>
          </a:prstGeom>
          <a:solidFill>
            <a:srgbClr val="FFA500"/>
          </a:solidFill>
          <a:effectLst>
            <a:softEdge rad="12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Diamond, 10pt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9235440" y="3657600"/>
            <a:ext cx="2286000" cy="2286000"/>
          </a:xfrm>
          <a:prstGeom prst="triangle">
            <a:avLst/>
          </a:prstGeom>
          <a:solidFill>
            <a:srgbClr val="800080"/>
          </a:solidFill>
          <a:effectLst>
            <a:softEdge rad="254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alibri"/>
              </a:rPr>
              <a:t>Triangle, 20pt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5: Combined Effects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200400" cy="1828800"/>
          </a:xfrm>
          <a:prstGeom prst="roundRect">
            <a:avLst/>
          </a:prstGeom>
          <a:solidFill>
            <a:srgbClr val="4472C4"/>
          </a:solidFill>
          <a:effectLst>
            <a:outerShdw blurRad="50800" dist="76200" dir="18900000" algn="bl" rotWithShape="0">
              <a:srgbClr val="000000">
                <a:alpha val="50000"/>
              </a:srgbClr>
            </a:outerShdw>
            <a:reflection blurRad="12700" stA="40000" endA="0" endPos="40000" dist="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Shadow + Reflection</a:t>
            </a:r>
          </a:p>
        </p:txBody>
      </p:sp>
      <p:sp>
        <p:nvSpPr>
          <p:cNvPr id="5" name="Oval 4"/>
          <p:cNvSpPr/>
          <p:nvPr/>
        </p:nvSpPr>
        <p:spPr>
          <a:xfrm>
            <a:off x="4389120" y="914400"/>
            <a:ext cx="3200400" cy="1828800"/>
          </a:xfrm>
          <a:prstGeom prst="ellipse">
            <a:avLst/>
          </a:prstGeom>
          <a:solidFill>
            <a:srgbClr val="ED7D31"/>
          </a:solidFill>
          <a:effectLst>
            <a:outerShdw blurRad="76200" dist="101600" dir="18900000" algn="bl" rotWithShape="0">
              <a:srgbClr val="000000">
                <a:alpha val="50000"/>
              </a:srgbClr>
            </a:outerShdw>
            <a:softEdge rad="1016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Shadow + Soft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914400"/>
            <a:ext cx="3200400" cy="1828800"/>
          </a:xfrm>
          <a:prstGeom prst="roundRect">
            <a:avLst/>
          </a:prstGeom>
          <a:solidFill>
            <a:srgbClr val="70AD47"/>
          </a:solidFill>
          <a:effectLst>
            <a:glow rad="127000">
              <a:srgbClr val="00FF00">
                <a:alpha val="40000"/>
              </a:srgbClr>
            </a:glow>
            <a:reflection blurRad="12700" stA="50000" endA="0" endPos="50000" dist="0" dir="5400000" fadeDir="54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Glow + Reflection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5029200" cy="1828800"/>
          </a:xfrm>
          <a:prstGeom prst="rect">
            <a:avLst/>
          </a:prstGeom>
          <a:solidFill>
            <a:srgbClr val="800080"/>
          </a:solidFill>
          <a:effectLst>
            <a:outerShdw blurRad="50800" dist="76200" dir="18900000" algn="bl" rotWithShape="0">
              <a:srgbClr val="000000">
                <a:alpha val="40000"/>
              </a:srgbClr>
            </a:outerShdw>
            <a:glow rad="101600">
              <a:srgbClr val="FF00FF">
                <a:alpha val="30000"/>
              </a:srgbClr>
            </a:glow>
            <a:softEdge rad="6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Shadow + Glow + Soft Edge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4114800"/>
            <a:ext cx="5029200" cy="1828800"/>
          </a:xfrm>
          <a:prstGeom prst="ellipse">
            <a:avLst/>
          </a:prstGeom>
          <a:solidFill>
            <a:srgbClr val="FFC000"/>
          </a:solidFill>
          <a:effectLst>
            <a:outerShdw blurRad="50800" dist="76200" dir="18900000" algn="bl" rotWithShape="0">
              <a:srgbClr val="000000">
                <a:alpha val="40000"/>
              </a:srgbClr>
            </a:outerShdw>
            <a:glow rad="76200">
              <a:srgbClr val="FFA500">
                <a:alpha val="30000"/>
              </a:srgbClr>
            </a:glow>
            <a:reflection blurRad="0" stA="30000" endA="0" endPos="30000" dist="0" dir="5400000" fadeDir="5400000" algn="bl" rotWithShape="0"/>
            <a:softEdge rad="381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6126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Calibri"/>
              </a:rPr>
              <a:t>Shadow + Glow + Reflection + Soft 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